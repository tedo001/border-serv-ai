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SIH 2026 idea submission for PS 26187 (Ministry of Home Affairs / Sashastra Seema Bal). IBVAP turns the CCTV already installed along the border into an analytics network: detection, tracking, ANPR, face matching, virtual fences and night movement, running on an edge node that keeps working when the uplink drops. Fill in Team ID and Team Name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a border post lives with today. Middle: the node itself, six stages, all of it on the edge. Right: the five things that separate IBVAP from a video management system with motion alarms bolted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stages, left to right, each one a real module in the codebase. The stack is deliberately boring and open-source; the interesting engineering is in the fallbacks, not the dependency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is argued from what the platform already does rather than from intent. The livestock number in Risks is a measured result from the cattle drill scenario, not a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figures at the bottom are measured, not projected: the livestock pair comes from the cattle drill scenario, where the classical fallback alone raises a false intrusion alarm and the classifier stage removes it while a person in the same zone still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are the papers the implementation genuinely rests on, each with the reason it is in the design. The lower half is the competitive read: what a border post can buy today, and what this adds.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801.04264" TargetMode="External"/><Relationship Id="rId2" Type="http://schemas.openxmlformats.org/officeDocument/2006/relationships/hyperlink" Target="https://arxiv.org/abs/2304.08069" TargetMode="External"/><Relationship Id="rId3" Type="http://schemas.openxmlformats.org/officeDocument/2006/relationships/hyperlink" Target="https://arxiv.org/abs/2110.06864" TargetMode="External"/><Relationship Id="rId4" Type="http://schemas.openxmlformats.org/officeDocument/2006/relationships/hyperlink" Target="https://arxiv.org/abs/1905.02244" TargetMode="External"/><Relationship Id="rId5" Type="http://schemas.openxmlformats.org/officeDocument/2006/relationships/hyperlink" Target="https://arxiv.org/abs/1801.07698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1481328"/>
            <a:ext cx="7269480" cy="7680960"/>
          </a:xfrm>
          <a:prstGeom prst="rect">
            <a:avLst/>
          </a:prstGeom>
          <a:solidFill>
            <a:srgbClr val="091E36"/>
          </a:solidFill>
          <a:ln w="15875">
            <a:solidFill>
              <a:srgbClr val="1D4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5276088"/>
            <a:ext cx="7269480" cy="3886200"/>
          </a:xfrm>
          <a:prstGeom prst="rect">
            <a:avLst/>
          </a:prstGeom>
          <a:solidFill>
            <a:srgbClr val="1B3F63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5239512"/>
            <a:ext cx="7269480" cy="45720"/>
          </a:xfrm>
          <a:prstGeom prst="rect">
            <a:avLst/>
          </a:prstGeom>
          <a:solidFill>
            <a:srgbClr val="4E82B8"/>
          </a:solidFill>
          <a:ln/>
        </p:spPr>
      </p:sp>
      <p:sp>
        <p:nvSpPr>
          <p:cNvPr id="5" name="Shape 3"/>
          <p:cNvSpPr/>
          <p:nvPr/>
        </p:nvSpPr>
        <p:spPr>
          <a:xfrm>
            <a:off x="10835640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6" name="Shape 4"/>
          <p:cNvSpPr/>
          <p:nvPr/>
        </p:nvSpPr>
        <p:spPr>
          <a:xfrm>
            <a:off x="11503152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7" name="Shape 5"/>
          <p:cNvSpPr/>
          <p:nvPr/>
        </p:nvSpPr>
        <p:spPr>
          <a:xfrm>
            <a:off x="12170664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8" name="Shape 6"/>
          <p:cNvSpPr/>
          <p:nvPr/>
        </p:nvSpPr>
        <p:spPr>
          <a:xfrm>
            <a:off x="12838176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9" name="Shape 7"/>
          <p:cNvSpPr/>
          <p:nvPr/>
        </p:nvSpPr>
        <p:spPr>
          <a:xfrm>
            <a:off x="13505688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0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11" name="Shape 9"/>
          <p:cNvSpPr/>
          <p:nvPr/>
        </p:nvSpPr>
        <p:spPr>
          <a:xfrm>
            <a:off x="14840712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08224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175736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843248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15" name="Shape 13"/>
          <p:cNvSpPr/>
          <p:nvPr/>
        </p:nvSpPr>
        <p:spPr>
          <a:xfrm>
            <a:off x="17510760" y="4498848"/>
            <a:ext cx="50292" cy="1417320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35640" y="4791456"/>
            <a:ext cx="6720840" cy="32004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35640" y="5458968"/>
            <a:ext cx="6720840" cy="32004"/>
          </a:xfrm>
          <a:prstGeom prst="rect">
            <a:avLst/>
          </a:prstGeom>
          <a:solidFill>
            <a:srgbClr val="35618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350240" y="1892808"/>
            <a:ext cx="45720" cy="6675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505688" y="8385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30000" y="5641848"/>
            <a:ext cx="1417320" cy="36576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0" y="7708392"/>
            <a:ext cx="1417320" cy="36576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0" y="5641848"/>
            <a:ext cx="36576" cy="210312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2810744" y="5641848"/>
            <a:ext cx="36576" cy="210312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0" y="5294376"/>
            <a:ext cx="1417320" cy="3474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503152" y="529437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0.91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584680" y="6419088"/>
            <a:ext cx="2423160" cy="3657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7" name="Shape 25"/>
          <p:cNvSpPr/>
          <p:nvPr/>
        </p:nvSpPr>
        <p:spPr>
          <a:xfrm>
            <a:off x="14584680" y="7936992"/>
            <a:ext cx="2423160" cy="36576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8" name="Shape 26"/>
          <p:cNvSpPr/>
          <p:nvPr/>
        </p:nvSpPr>
        <p:spPr>
          <a:xfrm>
            <a:off x="14584680" y="6419088"/>
            <a:ext cx="36576" cy="155448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71264" y="6419088"/>
            <a:ext cx="36576" cy="155448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0" name="Shape 28"/>
          <p:cNvSpPr/>
          <p:nvPr/>
        </p:nvSpPr>
        <p:spPr>
          <a:xfrm>
            <a:off x="14584680" y="6071616"/>
            <a:ext cx="1554480" cy="347472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4657832" y="60716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0.87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5361920" y="1801368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5361920" y="18013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CCTV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881360" y="18013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D447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881360" y="18013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 NIGHT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84048"/>
            <a:ext cx="1700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48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1572768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 V A P</a:t>
            </a:r>
            <a:endParaRPr lang="en-US" sz="60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25786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Border Video Analytics Platform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294436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line  ·  Hold the line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22960" y="3566160"/>
            <a:ext cx="100584" cy="10058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115568" y="3429000"/>
            <a:ext cx="9006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: </a:t>
            </a:r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8F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26187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2960" y="4133088"/>
            <a:ext cx="100584" cy="10058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115568" y="3995928"/>
            <a:ext cx="9006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: </a:t>
            </a:r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8F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Video Analytics Platform for Border Surveillance using existing CCTV Infrastructure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2960" y="5047488"/>
            <a:ext cx="100584" cy="10058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15568" y="4910328"/>
            <a:ext cx="9006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: </a:t>
            </a:r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8F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2960" y="5614416"/>
            <a:ext cx="100584" cy="10058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115568" y="5477256"/>
            <a:ext cx="9006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: </a:t>
            </a:r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8F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2960" y="6181344"/>
            <a:ext cx="100584" cy="10058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115568" y="6044184"/>
            <a:ext cx="9006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: </a:t>
            </a:r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8F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Home Affairs  ·  Sashastra Seema Bal (SSB), Police II Division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2960" y="7095744"/>
            <a:ext cx="100584" cy="10058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115568" y="6958584"/>
            <a:ext cx="9006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: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5D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2960" y="7662672"/>
            <a:ext cx="100584" cy="100584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115568" y="7525512"/>
            <a:ext cx="9006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: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5D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2960" y="8247888"/>
            <a:ext cx="2926080" cy="1170432"/>
          </a:xfrm>
          <a:prstGeom prst="roundRect">
            <a:avLst>
              <a:gd name="adj" fmla="val 7813"/>
            </a:avLst>
          </a:prstGeom>
          <a:solidFill>
            <a:srgbClr val="11304F"/>
          </a:solidFill>
          <a:ln w="12700">
            <a:solidFill>
              <a:srgbClr val="25547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05840" y="8375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&amp; TRACK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005840" y="86868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C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vehicles · animals, with stable identities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977640" y="8247888"/>
            <a:ext cx="2926080" cy="1170432"/>
          </a:xfrm>
          <a:prstGeom prst="roundRect">
            <a:avLst>
              <a:gd name="adj" fmla="val 7813"/>
            </a:avLst>
          </a:prstGeom>
          <a:solidFill>
            <a:srgbClr val="11304F"/>
          </a:solidFill>
          <a:ln w="12700">
            <a:solidFill>
              <a:srgbClr val="25547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160520" y="8375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4160520" y="86868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C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plates and watchlist faces, in software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132320" y="8247888"/>
            <a:ext cx="2926080" cy="1170432"/>
          </a:xfrm>
          <a:prstGeom prst="roundRect">
            <a:avLst>
              <a:gd name="adj" fmla="val 7813"/>
            </a:avLst>
          </a:prstGeom>
          <a:solidFill>
            <a:srgbClr val="11304F"/>
          </a:solidFill>
          <a:ln w="12700">
            <a:solidFill>
              <a:srgbClr val="25547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315200" y="8375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THE LINE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7315200" y="86868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C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fences, intrusion zones and night movement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0" y="9646920"/>
            <a:ext cx="1828800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206240" y="9692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IBVAP</a:t>
            </a:r>
            <a:endParaRPr lang="en-US" sz="2000" dirty="0"/>
          </a:p>
        </p:txBody>
      </p:sp>
      <p:sp>
        <p:nvSpPr>
          <p:cNvPr id="65" name="Text 63"/>
          <p:cNvSpPr txBox="1"/>
          <p:nvPr/>
        </p:nvSpPr>
        <p:spPr>
          <a:xfrm>
            <a:off x="5852160" y="9692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6080760" y="9692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Video Analytics Platform for Border Surveillance</a:t>
            </a:r>
            <a:endParaRPr lang="en-US" sz="1500" dirty="0"/>
          </a:p>
        </p:txBody>
      </p:sp>
      <p:sp>
        <p:nvSpPr>
          <p:cNvPr id="67" name="Text 65"/>
          <p:cNvSpPr txBox="1"/>
          <p:nvPr/>
        </p:nvSpPr>
        <p:spPr>
          <a:xfrm>
            <a:off x="17236440" y="9692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 V A 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line  ·  Hold the 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2194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 E A   &amp;   S O L U T I O 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173200" y="36576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E08A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0" y="365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PS-26187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184880" y="23774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9646920"/>
            <a:ext cx="1828800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06240" y="9692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IBVAP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9692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9692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Video Analytics Platform for Border Surveillance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236440" y="9692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1371600"/>
            <a:ext cx="5120640" cy="8138160"/>
          </a:xfrm>
          <a:prstGeom prst="roundRect">
            <a:avLst>
              <a:gd name="adj" fmla="val 2143"/>
            </a:avLst>
          </a:prstGeom>
          <a:solidFill>
            <a:srgbClr val="FDF1EF"/>
          </a:solidFill>
          <a:ln w="12700">
            <a:solidFill>
              <a:srgbClr val="F0C9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371600"/>
            <a:ext cx="5120640" cy="475488"/>
          </a:xfrm>
          <a:prstGeom prst="roundRect">
            <a:avLst>
              <a:gd name="adj" fmla="val 23077"/>
            </a:avLst>
          </a:prstGeom>
          <a:solidFill>
            <a:srgbClr val="C0392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28216"/>
            <a:ext cx="5120640" cy="118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1371600"/>
            <a:ext cx="4828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TODAY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167128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7552" y="2048256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record, nobody watches.</a:t>
            </a:r>
            <a:endParaRPr lang="en-US" sz="1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one sentry hold attention on forty feeds through a twelve-hour night shift?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3232" y="3630168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552" y="3511296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fatigue kills trust.</a:t>
            </a:r>
            <a:endParaRPr lang="en-US" sz="1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Cattle, foliage and rain trigger alerts until the operator stops believing any of them.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" y="5093208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7552" y="4974336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face or plate hardware at a post.</a:t>
            </a:r>
            <a:endParaRPr lang="en-US" sz="1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every BOP buy a dedicated appliance to read a number plate or check a face?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3232" y="6556248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7552" y="6437376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is when it matters.</a:t>
            </a:r>
            <a:endParaRPr lang="en-US" sz="1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 happens at night, in IR, in haze - exactly where a motion alarm fails.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3232" y="8019288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7552" y="7900416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uplink drops.</a:t>
            </a:r>
            <a:endParaRPr lang="en-US" sz="1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alerts survive a VSAT outage? Is the evidence still defensible weeks later?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852160" y="1371600"/>
            <a:ext cx="6035040" cy="8138160"/>
          </a:xfrm>
          <a:prstGeom prst="roundRect">
            <a:avLst>
              <a:gd name="adj" fmla="val 1818"/>
            </a:avLst>
          </a:prstGeom>
          <a:solidFill>
            <a:srgbClr val="F2F6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1371600"/>
            <a:ext cx="6035040" cy="475488"/>
          </a:xfrm>
          <a:prstGeom prst="roundRect">
            <a:avLst>
              <a:gd name="adj" fmla="val 23077"/>
            </a:avLst>
          </a:prstGeom>
          <a:solidFill>
            <a:srgbClr val="0B1F3A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0" y="1728216"/>
            <a:ext cx="6035040" cy="1188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98464" y="1371600"/>
            <a:ext cx="5742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IBVAP  -  EDGE ANALYTICS NODE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108192" y="2066544"/>
            <a:ext cx="552297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63640" y="21488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INGEST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24688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RTSP / ONVIF CCTV, video file or drill simulator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833104" y="3072384"/>
            <a:ext cx="36576" cy="128016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36" name="Shape 34"/>
          <p:cNvSpPr/>
          <p:nvPr/>
        </p:nvSpPr>
        <p:spPr>
          <a:xfrm rot="10800000">
            <a:off x="8741664" y="3182112"/>
            <a:ext cx="219456" cy="118872"/>
          </a:xfrm>
          <a:prstGeom prst="triangle">
            <a:avLst/>
          </a:prstGeom>
          <a:solidFill>
            <a:srgbClr val="2E5C8A"/>
          </a:solidFill>
          <a:ln/>
        </p:spPr>
      </p:sp>
      <p:sp>
        <p:nvSpPr>
          <p:cNvPr id="37" name="Shape 35"/>
          <p:cNvSpPr/>
          <p:nvPr/>
        </p:nvSpPr>
        <p:spPr>
          <a:xfrm>
            <a:off x="6108192" y="3328416"/>
            <a:ext cx="552297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63640" y="341071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DETECT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37307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 ·  YOLO26  ·  RT-DETR  ·  YOLOv8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833104" y="4334256"/>
            <a:ext cx="36576" cy="128016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1" name="Shape 39"/>
          <p:cNvSpPr/>
          <p:nvPr/>
        </p:nvSpPr>
        <p:spPr>
          <a:xfrm rot="10800000">
            <a:off x="8741664" y="4443984"/>
            <a:ext cx="219456" cy="118872"/>
          </a:xfrm>
          <a:prstGeom prst="triangle">
            <a:avLst/>
          </a:prstGeom>
          <a:solidFill>
            <a:srgbClr val="2E5C8A"/>
          </a:solidFill>
          <a:ln/>
        </p:spPr>
      </p:sp>
      <p:sp>
        <p:nvSpPr>
          <p:cNvPr id="42" name="Shape 40"/>
          <p:cNvSpPr/>
          <p:nvPr/>
        </p:nvSpPr>
        <p:spPr>
          <a:xfrm>
            <a:off x="6108192" y="4590288"/>
            <a:ext cx="552297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63640" y="467258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CLASSIFY &amp; TRACK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263640" y="499262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/ ImageNet refinement  +  ByteTrack identities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833104" y="5596128"/>
            <a:ext cx="36576" cy="128016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6" name="Shape 44"/>
          <p:cNvSpPr/>
          <p:nvPr/>
        </p:nvSpPr>
        <p:spPr>
          <a:xfrm rot="10800000">
            <a:off x="8741664" y="5705856"/>
            <a:ext cx="219456" cy="118872"/>
          </a:xfrm>
          <a:prstGeom prst="triangle">
            <a:avLst/>
          </a:prstGeom>
          <a:solidFill>
            <a:srgbClr val="2E5C8A"/>
          </a:solidFill>
          <a:ln/>
        </p:spPr>
      </p:sp>
      <p:sp>
        <p:nvSpPr>
          <p:cNvPr id="47" name="Shape 45"/>
          <p:cNvSpPr/>
          <p:nvPr/>
        </p:nvSpPr>
        <p:spPr>
          <a:xfrm>
            <a:off x="6108192" y="5852160"/>
            <a:ext cx="552297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63640" y="59344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RECOGNISE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263640" y="625449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(CRNN + CTC)  ·  Face matching (ArcFace 512-d)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833104" y="6858000"/>
            <a:ext cx="36576" cy="128016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51" name="Shape 49"/>
          <p:cNvSpPr/>
          <p:nvPr/>
        </p:nvSpPr>
        <p:spPr>
          <a:xfrm rot="10800000">
            <a:off x="8741664" y="6967728"/>
            <a:ext cx="219456" cy="118872"/>
          </a:xfrm>
          <a:prstGeom prst="triangle">
            <a:avLst/>
          </a:prstGeom>
          <a:solidFill>
            <a:srgbClr val="2E5C8A"/>
          </a:solidFill>
          <a:ln/>
        </p:spPr>
      </p:sp>
      <p:sp>
        <p:nvSpPr>
          <p:cNvPr id="52" name="Shape 50"/>
          <p:cNvSpPr/>
          <p:nvPr/>
        </p:nvSpPr>
        <p:spPr>
          <a:xfrm>
            <a:off x="6108192" y="7114032"/>
            <a:ext cx="552297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63640" y="71963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ANALYSE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6263640" y="751636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crossing, intrusion, loitering, abandoned object, night movement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8833104" y="8119872"/>
            <a:ext cx="36576" cy="128016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56" name="Shape 54"/>
          <p:cNvSpPr/>
          <p:nvPr/>
        </p:nvSpPr>
        <p:spPr>
          <a:xfrm rot="10800000">
            <a:off x="8741664" y="8229600"/>
            <a:ext cx="219456" cy="118872"/>
          </a:xfrm>
          <a:prstGeom prst="triangle">
            <a:avLst/>
          </a:prstGeom>
          <a:solidFill>
            <a:srgbClr val="2E5C8A"/>
          </a:solidFill>
          <a:ln/>
        </p:spPr>
      </p:sp>
      <p:sp>
        <p:nvSpPr>
          <p:cNvPr id="57" name="Shape 55"/>
          <p:cNvSpPr/>
          <p:nvPr/>
        </p:nvSpPr>
        <p:spPr>
          <a:xfrm>
            <a:off x="6108192" y="8375904"/>
            <a:ext cx="552297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263640" y="84582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ACT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6263640" y="877824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 ·  signed evidence  ·  store-and-forward to C2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12252960" y="1371600"/>
            <a:ext cx="5577840" cy="8138160"/>
          </a:xfrm>
          <a:prstGeom prst="roundRect">
            <a:avLst>
              <a:gd name="adj" fmla="val 1967"/>
            </a:avLst>
          </a:prstGeom>
          <a:solidFill>
            <a:srgbClr val="FDF6EC"/>
          </a:solidFill>
          <a:ln w="12700">
            <a:solidFill>
              <a:srgbClr val="EBD3A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252960" y="1371600"/>
            <a:ext cx="5577840" cy="475488"/>
          </a:xfrm>
          <a:prstGeom prst="roundRect">
            <a:avLst>
              <a:gd name="adj" fmla="val 23077"/>
            </a:avLst>
          </a:prstGeom>
          <a:solidFill>
            <a:srgbClr val="E08A1E"/>
          </a:solidFill>
          <a:ln/>
        </p:spPr>
      </p:sp>
      <p:sp>
        <p:nvSpPr>
          <p:cNvPr id="62" name="Shape 60"/>
          <p:cNvSpPr/>
          <p:nvPr/>
        </p:nvSpPr>
        <p:spPr>
          <a:xfrm>
            <a:off x="12252960" y="1728216"/>
            <a:ext cx="5577840" cy="118872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2399264" y="1371600"/>
            <a:ext cx="5285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VALUE PROPOSITION</a:t>
            </a:r>
            <a:endParaRPr lang="en-US" sz="1700" dirty="0"/>
          </a:p>
        </p:txBody>
      </p:sp>
      <p:sp>
        <p:nvSpPr>
          <p:cNvPr id="64" name="Text 62"/>
          <p:cNvSpPr txBox="1"/>
          <p:nvPr/>
        </p:nvSpPr>
        <p:spPr>
          <a:xfrm>
            <a:off x="12508992" y="2066544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CCTV YOU ALREADY HAVE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12508992" y="2377440"/>
            <a:ext cx="5065776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E3CDA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2637008" y="2450592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cameras and no face or plate appliance - software on one fanless edge box per post.</a:t>
            </a:r>
            <a:endParaRPr lang="en-US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12508992" y="35387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DEGRADES, NEVER GOES DARK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12508992" y="3849624"/>
            <a:ext cx="5065776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E3CDA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2637008" y="3922776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model files it still detects, on classical motion, and reports itself degraded in health, console and metrics.</a:t>
            </a:r>
            <a:endParaRPr lang="en-US" sz="1250" dirty="0"/>
          </a:p>
        </p:txBody>
      </p:sp>
      <p:sp>
        <p:nvSpPr>
          <p:cNvPr id="70" name="Text 68"/>
          <p:cNvSpPr txBox="1"/>
          <p:nvPr/>
        </p:nvSpPr>
        <p:spPr>
          <a:xfrm>
            <a:off x="12508992" y="5010912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 SUPPRESSED BY CLASS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12508992" y="5321808"/>
            <a:ext cx="5065776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E3CDA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2637008" y="53949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classifier turns "a wide blob" into "a cow", removing the dominant false alarm on a rural fence line.</a:t>
            </a:r>
            <a:endParaRPr lang="en-US" sz="1250" dirty="0"/>
          </a:p>
        </p:txBody>
      </p:sp>
      <p:sp>
        <p:nvSpPr>
          <p:cNvPr id="73" name="Text 71"/>
          <p:cNvSpPr txBox="1"/>
          <p:nvPr/>
        </p:nvSpPr>
        <p:spPr>
          <a:xfrm>
            <a:off x="12508992" y="648309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THE UPLINK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12508992" y="6793992"/>
            <a:ext cx="5065776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E3CDA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2637008" y="6867144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raised during an outage persist in an outbox and replay in order when VSAT or radio returns.</a:t>
            </a:r>
            <a:endParaRPr lang="en-US" sz="1250" dirty="0"/>
          </a:p>
        </p:txBody>
      </p:sp>
      <p:sp>
        <p:nvSpPr>
          <p:cNvPr id="76" name="Text 74"/>
          <p:cNvSpPr txBox="1"/>
          <p:nvPr/>
        </p:nvSpPr>
        <p:spPr>
          <a:xfrm>
            <a:off x="12508992" y="79552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YOU CAN DEFEND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12508992" y="8266176"/>
            <a:ext cx="5065776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 w="12700">
            <a:solidFill>
              <a:srgbClr val="E3CDA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2637008" y="8339328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per artefact and a per-day hash chain: alteration and deletion are both detectable months later.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 V A 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line  ·  Hold the 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2194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E C H N I C A L   A P P R O A C 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173200" y="36576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E08A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0" y="365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PS-26187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184880" y="23774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9646920"/>
            <a:ext cx="1828800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06240" y="9692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IBVAP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9692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9692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Video Analytics Platform for Border Surveillance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236440" y="9692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1371600"/>
            <a:ext cx="3291840" cy="47091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371600"/>
            <a:ext cx="3291840" cy="475488"/>
          </a:xfrm>
          <a:prstGeom prst="roundRect">
            <a:avLst>
              <a:gd name="adj" fmla="val 2307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28216"/>
            <a:ext cx="3291840" cy="1188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137160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DECODE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" y="14630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521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2139696"/>
            <a:ext cx="91440" cy="91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" y="202996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RTSP / ONVIF CCTV feeds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2798064"/>
            <a:ext cx="91440" cy="91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7824" y="268833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transport, reconnect with backoff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3456432"/>
            <a:ext cx="91440" cy="91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7824" y="334670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queue, oldest frame dropped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" y="4114800"/>
            <a:ext cx="91440" cy="91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7824" y="400507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Per-camera target-FPS sampling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" y="4773168"/>
            <a:ext cx="91440" cy="91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7824" y="466344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 enhancement when the frame is dark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" y="5431536"/>
            <a:ext cx="91440" cy="91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" y="532180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every Nth frame; tracking fills the gaps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977640" y="1371600"/>
            <a:ext cx="3291840" cy="47091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7640" y="1371600"/>
            <a:ext cx="3291840" cy="475488"/>
          </a:xfrm>
          <a:prstGeom prst="roundRect">
            <a:avLst>
              <a:gd name="adj" fmla="val 23077"/>
            </a:avLst>
          </a:prstGeom>
          <a:solidFill>
            <a:srgbClr val="14406E"/>
          </a:solidFill>
          <a:ln/>
        </p:spPr>
      </p:sp>
      <p:sp>
        <p:nvSpPr>
          <p:cNvPr id="34" name="Shape 32"/>
          <p:cNvSpPr/>
          <p:nvPr/>
        </p:nvSpPr>
        <p:spPr>
          <a:xfrm>
            <a:off x="3977640" y="1728216"/>
            <a:ext cx="3291840" cy="118872"/>
          </a:xfrm>
          <a:prstGeom prst="rect">
            <a:avLst/>
          </a:prstGeom>
          <a:solidFill>
            <a:srgbClr val="14406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123944" y="137160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105656" y="14630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10565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4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78808" y="2139696"/>
            <a:ext cx="91440" cy="91440"/>
          </a:xfrm>
          <a:prstGeom prst="rect">
            <a:avLst/>
          </a:prstGeom>
          <a:solidFill>
            <a:srgbClr val="14406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398264" y="202996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Runtime, CUDA falling back to CPU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178808" y="2798064"/>
            <a:ext cx="91440" cy="91440"/>
          </a:xfrm>
          <a:prstGeom prst="rect">
            <a:avLst/>
          </a:prstGeom>
          <a:solidFill>
            <a:srgbClr val="14406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98264" y="268833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YOLO26 - end-to-end, NMS folded in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178808" y="3456432"/>
            <a:ext cx="91440" cy="91440"/>
          </a:xfrm>
          <a:prstGeom prst="rect">
            <a:avLst/>
          </a:prstGeom>
          <a:solidFill>
            <a:srgbClr val="14406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398264" y="334670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- set prediction, no NMS pass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178808" y="4114800"/>
            <a:ext cx="91440" cy="91440"/>
          </a:xfrm>
          <a:prstGeom prst="rect">
            <a:avLst/>
          </a:prstGeom>
          <a:solidFill>
            <a:srgbClr val="14406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398264" y="400507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/ v5 legacy exports supported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178808" y="4773168"/>
            <a:ext cx="91440" cy="91440"/>
          </a:xfrm>
          <a:prstGeom prst="rect">
            <a:avLst/>
          </a:prstGeom>
          <a:solidFill>
            <a:srgbClr val="14406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398264" y="466344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MOG2 motion fallback when no artefact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178808" y="5431536"/>
            <a:ext cx="91440" cy="91440"/>
          </a:xfrm>
          <a:prstGeom prst="rect">
            <a:avLst/>
          </a:prstGeom>
          <a:solidFill>
            <a:srgbClr val="14406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398264" y="532180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allowlist and minimum object height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498080" y="1371600"/>
            <a:ext cx="3291840" cy="47091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0" y="1371600"/>
            <a:ext cx="3291840" cy="475488"/>
          </a:xfrm>
          <a:prstGeom prst="roundRect">
            <a:avLst>
              <a:gd name="adj" fmla="val 23077"/>
            </a:avLst>
          </a:prstGeom>
          <a:solidFill>
            <a:srgbClr val="2E5C8A"/>
          </a:solidFill>
          <a:ln/>
        </p:spPr>
      </p:sp>
      <p:sp>
        <p:nvSpPr>
          <p:cNvPr id="52" name="Shape 50"/>
          <p:cNvSpPr/>
          <p:nvPr/>
        </p:nvSpPr>
        <p:spPr>
          <a:xfrm>
            <a:off x="7498080" y="1728216"/>
            <a:ext cx="3291840" cy="118872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644384" y="137160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&amp; TRACK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626096" y="14630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62609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699248" y="2139696"/>
            <a:ext cx="91440" cy="914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918704" y="202996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over ImageNet-1k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699248" y="2798064"/>
            <a:ext cx="91440" cy="914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918704" y="268833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track, not once per frame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699248" y="3456432"/>
            <a:ext cx="91440" cy="914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918704" y="334670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with a Kalman filter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7699248" y="4114800"/>
            <a:ext cx="91440" cy="914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7918704" y="400507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assignment, three passes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7699248" y="4773168"/>
            <a:ext cx="91440" cy="914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918704" y="466344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 hold through occlusion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7699248" y="5431536"/>
            <a:ext cx="91440" cy="914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7918704" y="532180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history gives speed and direction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11018520" y="1371600"/>
            <a:ext cx="3291840" cy="47091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018520" y="1371600"/>
            <a:ext cx="3291840" cy="475488"/>
          </a:xfrm>
          <a:prstGeom prst="roundRect">
            <a:avLst>
              <a:gd name="adj" fmla="val 23077"/>
            </a:avLst>
          </a:prstGeom>
          <a:solidFill>
            <a:srgbClr val="E08A1E"/>
          </a:solidFill>
          <a:ln/>
        </p:spPr>
      </p:sp>
      <p:sp>
        <p:nvSpPr>
          <p:cNvPr id="70" name="Shape 68"/>
          <p:cNvSpPr/>
          <p:nvPr/>
        </p:nvSpPr>
        <p:spPr>
          <a:xfrm>
            <a:off x="11018520" y="1728216"/>
            <a:ext cx="3291840" cy="118872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11164824" y="137160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&amp; ANALYSE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11146536" y="14630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1114653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1219688" y="2139696"/>
            <a:ext cx="91440" cy="9144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1439144" y="202996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ANPR: locate, deskew, CRNN + CTC decode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11219688" y="2798064"/>
            <a:ext cx="91440" cy="9144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11439144" y="268833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number-plate grammar correction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11219688" y="3456432"/>
            <a:ext cx="91440" cy="9144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1439144" y="334670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Face: ArcFace 512-d, cosine plus margin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11219688" y="4114800"/>
            <a:ext cx="91440" cy="9144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1439144" y="400507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fence and zone intrusion</a:t>
            </a:r>
            <a:endParaRPr lang="en-US" sz="1250" dirty="0"/>
          </a:p>
        </p:txBody>
      </p:sp>
      <p:sp>
        <p:nvSpPr>
          <p:cNvPr id="82" name="Shape 80"/>
          <p:cNvSpPr/>
          <p:nvPr/>
        </p:nvSpPr>
        <p:spPr>
          <a:xfrm>
            <a:off x="11219688" y="4773168"/>
            <a:ext cx="91440" cy="9144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1439144" y="466344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Loitering, abandoned object, tamper</a:t>
            </a:r>
            <a:endParaRPr lang="en-US" sz="1250" dirty="0"/>
          </a:p>
        </p:txBody>
      </p:sp>
      <p:sp>
        <p:nvSpPr>
          <p:cNvPr id="84" name="Shape 82"/>
          <p:cNvSpPr/>
          <p:nvPr/>
        </p:nvSpPr>
        <p:spPr>
          <a:xfrm>
            <a:off x="11219688" y="5431536"/>
            <a:ext cx="91440" cy="91440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11439144" y="532180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movement in IR and low light</a:t>
            </a:r>
            <a:endParaRPr lang="en-US" sz="1250" dirty="0"/>
          </a:p>
        </p:txBody>
      </p:sp>
      <p:sp>
        <p:nvSpPr>
          <p:cNvPr id="86" name="Shape 84"/>
          <p:cNvSpPr/>
          <p:nvPr/>
        </p:nvSpPr>
        <p:spPr>
          <a:xfrm>
            <a:off x="14538960" y="1371600"/>
            <a:ext cx="3291840" cy="47091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4538960" y="1371600"/>
            <a:ext cx="3291840" cy="475488"/>
          </a:xfrm>
          <a:prstGeom prst="roundRect">
            <a:avLst>
              <a:gd name="adj" fmla="val 23077"/>
            </a:avLst>
          </a:prstGeom>
          <a:solidFill>
            <a:srgbClr val="1E8E5A"/>
          </a:solidFill>
          <a:ln/>
        </p:spPr>
      </p:sp>
      <p:sp>
        <p:nvSpPr>
          <p:cNvPr id="88" name="Shape 86"/>
          <p:cNvSpPr/>
          <p:nvPr/>
        </p:nvSpPr>
        <p:spPr>
          <a:xfrm>
            <a:off x="14538960" y="1728216"/>
            <a:ext cx="3291840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14685264" y="137160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&amp; EVIDENCE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14666976" y="14630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466697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14740128" y="2139696"/>
            <a:ext cx="91440" cy="9144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4959584" y="202996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cooldown and rate-limit gate</a:t>
            </a:r>
            <a:endParaRPr lang="en-US" sz="1250" dirty="0"/>
          </a:p>
        </p:txBody>
      </p:sp>
      <p:sp>
        <p:nvSpPr>
          <p:cNvPr id="94" name="Shape 92"/>
          <p:cNvSpPr/>
          <p:nvPr/>
        </p:nvSpPr>
        <p:spPr>
          <a:xfrm>
            <a:off x="14740128" y="2798064"/>
            <a:ext cx="91440" cy="9144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4959584" y="268833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snapshot and clip written</a:t>
            </a:r>
            <a:endParaRPr lang="en-US" sz="1250" dirty="0"/>
          </a:p>
        </p:txBody>
      </p:sp>
      <p:sp>
        <p:nvSpPr>
          <p:cNvPr id="96" name="Shape 94"/>
          <p:cNvSpPr/>
          <p:nvPr/>
        </p:nvSpPr>
        <p:spPr>
          <a:xfrm>
            <a:off x="14740128" y="3456432"/>
            <a:ext cx="91440" cy="9144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14959584" y="334670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plus a per-day hash chain</a:t>
            </a:r>
            <a:endParaRPr lang="en-US" sz="1250" dirty="0"/>
          </a:p>
        </p:txBody>
      </p:sp>
      <p:sp>
        <p:nvSpPr>
          <p:cNvPr id="98" name="Shape 96"/>
          <p:cNvSpPr/>
          <p:nvPr/>
        </p:nvSpPr>
        <p:spPr>
          <a:xfrm>
            <a:off x="14740128" y="4114800"/>
            <a:ext cx="91440" cy="9144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4959584" y="400507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webhook to the C2 system</a:t>
            </a:r>
            <a:endParaRPr lang="en-US" sz="1250" dirty="0"/>
          </a:p>
        </p:txBody>
      </p:sp>
      <p:sp>
        <p:nvSpPr>
          <p:cNvPr id="100" name="Shape 98"/>
          <p:cNvSpPr/>
          <p:nvPr/>
        </p:nvSpPr>
        <p:spPr>
          <a:xfrm>
            <a:off x="14740128" y="4773168"/>
            <a:ext cx="91440" cy="9144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14959584" y="466344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Store-and-forward outbox for outages</a:t>
            </a:r>
            <a:endParaRPr lang="en-US" sz="1250" dirty="0"/>
          </a:p>
        </p:txBody>
      </p:sp>
      <p:sp>
        <p:nvSpPr>
          <p:cNvPr id="102" name="Shape 100"/>
          <p:cNvSpPr/>
          <p:nvPr/>
        </p:nvSpPr>
        <p:spPr>
          <a:xfrm>
            <a:off x="14740128" y="5431536"/>
            <a:ext cx="91440" cy="9144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4959584" y="532180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 to both consoles</a:t>
            </a:r>
            <a:endParaRPr lang="en-US" sz="1250" dirty="0"/>
          </a:p>
        </p:txBody>
      </p:sp>
      <p:sp>
        <p:nvSpPr>
          <p:cNvPr id="104" name="Shape 102"/>
          <p:cNvSpPr/>
          <p:nvPr/>
        </p:nvSpPr>
        <p:spPr>
          <a:xfrm>
            <a:off x="457200" y="6309360"/>
            <a:ext cx="11887200" cy="3200400"/>
          </a:xfrm>
          <a:prstGeom prst="roundRect">
            <a:avLst>
              <a:gd name="adj" fmla="val 3429"/>
            </a:avLst>
          </a:prstGeom>
          <a:solidFill>
            <a:srgbClr val="F2F6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57200" y="6309360"/>
            <a:ext cx="11887200" cy="475488"/>
          </a:xfrm>
          <a:prstGeom prst="roundRect">
            <a:avLst>
              <a:gd name="adj" fmla="val 23077"/>
            </a:avLst>
          </a:prstGeom>
          <a:solidFill>
            <a:srgbClr val="0B1F3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57200" y="6665976"/>
            <a:ext cx="11887200" cy="1188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603504" y="6309360"/>
            <a:ext cx="11594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108" name="Text 106"/>
          <p:cNvSpPr txBox="1"/>
          <p:nvPr/>
        </p:nvSpPr>
        <p:spPr>
          <a:xfrm>
            <a:off x="713232" y="6949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MODELS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713232" y="72969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ONNX Runtime</a:t>
            </a:r>
            <a:endParaRPr lang="en-US" sz="1250" dirty="0"/>
          </a:p>
        </p:txBody>
      </p:sp>
      <p:sp>
        <p:nvSpPr>
          <p:cNvPr id="110" name="Text 108"/>
          <p:cNvSpPr txBox="1"/>
          <p:nvPr/>
        </p:nvSpPr>
        <p:spPr>
          <a:xfrm>
            <a:off x="713232" y="7626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YOLO26 · RT-DETR · YOLOv8</a:t>
            </a:r>
            <a:endParaRPr lang="en-US" sz="1250" dirty="0"/>
          </a:p>
        </p:txBody>
      </p:sp>
      <p:sp>
        <p:nvSpPr>
          <p:cNvPr id="111" name="Text 109"/>
          <p:cNvSpPr txBox="1"/>
          <p:nvPr/>
        </p:nvSpPr>
        <p:spPr>
          <a:xfrm>
            <a:off x="713232" y="79552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MobileNetV3 (ImageNet-1k)</a:t>
            </a:r>
            <a:endParaRPr lang="en-US" sz="1250" dirty="0"/>
          </a:p>
        </p:txBody>
      </p:sp>
      <p:sp>
        <p:nvSpPr>
          <p:cNvPr id="112" name="Text 110"/>
          <p:cNvSpPr txBox="1"/>
          <p:nvPr/>
        </p:nvSpPr>
        <p:spPr>
          <a:xfrm>
            <a:off x="713232" y="82844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ByteTrack + Kalman</a:t>
            </a:r>
            <a:endParaRPr lang="en-US" sz="1250" dirty="0"/>
          </a:p>
        </p:txBody>
      </p:sp>
      <p:sp>
        <p:nvSpPr>
          <p:cNvPr id="113" name="Text 111"/>
          <p:cNvSpPr txBox="1"/>
          <p:nvPr/>
        </p:nvSpPr>
        <p:spPr>
          <a:xfrm>
            <a:off x="713232" y="8613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CRNN + CTC decode</a:t>
            </a:r>
            <a:endParaRPr lang="en-US" sz="1250" dirty="0"/>
          </a:p>
        </p:txBody>
      </p:sp>
      <p:sp>
        <p:nvSpPr>
          <p:cNvPr id="114" name="Text 112"/>
          <p:cNvSpPr txBox="1"/>
          <p:nvPr/>
        </p:nvSpPr>
        <p:spPr>
          <a:xfrm>
            <a:off x="713232" y="89428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ArcFace 512-d embeddings</a:t>
            </a:r>
            <a:endParaRPr lang="en-US" sz="1250" dirty="0"/>
          </a:p>
        </p:txBody>
      </p:sp>
      <p:sp>
        <p:nvSpPr>
          <p:cNvPr id="115" name="Text 113"/>
          <p:cNvSpPr txBox="1"/>
          <p:nvPr/>
        </p:nvSpPr>
        <p:spPr>
          <a:xfrm>
            <a:off x="4626864" y="6949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4626864" y="72969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Python 3.11+</a:t>
            </a:r>
            <a:endParaRPr lang="en-US" sz="1250" dirty="0"/>
          </a:p>
        </p:txBody>
      </p:sp>
      <p:sp>
        <p:nvSpPr>
          <p:cNvPr id="117" name="Text 115"/>
          <p:cNvSpPr txBox="1"/>
          <p:nvPr/>
        </p:nvSpPr>
        <p:spPr>
          <a:xfrm>
            <a:off x="4626864" y="7626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FastAPI + Uvicorn</a:t>
            </a:r>
            <a:endParaRPr lang="en-US" sz="1250" dirty="0"/>
          </a:p>
        </p:txBody>
      </p:sp>
      <p:sp>
        <p:nvSpPr>
          <p:cNvPr id="118" name="Text 116"/>
          <p:cNvSpPr txBox="1"/>
          <p:nvPr/>
        </p:nvSpPr>
        <p:spPr>
          <a:xfrm>
            <a:off x="4626864" y="79552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SQLAlchemy 2.0 async</a:t>
            </a:r>
            <a:endParaRPr lang="en-US" sz="1250" dirty="0"/>
          </a:p>
        </p:txBody>
      </p:sp>
      <p:sp>
        <p:nvSpPr>
          <p:cNvPr id="119" name="Text 117"/>
          <p:cNvSpPr txBox="1"/>
          <p:nvPr/>
        </p:nvSpPr>
        <p:spPr>
          <a:xfrm>
            <a:off x="4626864" y="82844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Pydantic v2</a:t>
            </a:r>
            <a:endParaRPr lang="en-US" sz="1250" dirty="0"/>
          </a:p>
        </p:txBody>
      </p:sp>
      <p:sp>
        <p:nvSpPr>
          <p:cNvPr id="120" name="Text 118"/>
          <p:cNvSpPr txBox="1"/>
          <p:nvPr/>
        </p:nvSpPr>
        <p:spPr>
          <a:xfrm>
            <a:off x="4626864" y="8613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OpenCV · NumPy · SciPy</a:t>
            </a:r>
            <a:endParaRPr lang="en-US" sz="1250" dirty="0"/>
          </a:p>
        </p:txBody>
      </p:sp>
      <p:sp>
        <p:nvSpPr>
          <p:cNvPr id="121" name="Text 119"/>
          <p:cNvSpPr txBox="1"/>
          <p:nvPr/>
        </p:nvSpPr>
        <p:spPr>
          <a:xfrm>
            <a:off x="4626864" y="89428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SQLite (WAL) / PostgreSQL</a:t>
            </a:r>
            <a:endParaRPr lang="en-US" sz="1250" dirty="0"/>
          </a:p>
        </p:txBody>
      </p:sp>
      <p:sp>
        <p:nvSpPr>
          <p:cNvPr id="122" name="Text 120"/>
          <p:cNvSpPr txBox="1"/>
          <p:nvPr/>
        </p:nvSpPr>
        <p:spPr>
          <a:xfrm>
            <a:off x="8540496" y="6949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OPERATIONS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8540496" y="72969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Consoles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Browser · PyQt6 · Analyst</a:t>
            </a:r>
            <a:endParaRPr lang="en-US" sz="1250" dirty="0"/>
          </a:p>
        </p:txBody>
      </p:sp>
      <p:sp>
        <p:nvSpPr>
          <p:cNvPr id="124" name="Text 122"/>
          <p:cNvSpPr txBox="1"/>
          <p:nvPr/>
        </p:nvSpPr>
        <p:spPr>
          <a:xfrm>
            <a:off x="8540496" y="7626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Docker · systemd</a:t>
            </a:r>
            <a:endParaRPr lang="en-US" sz="1250" dirty="0"/>
          </a:p>
        </p:txBody>
      </p:sp>
      <p:sp>
        <p:nvSpPr>
          <p:cNvPr id="125" name="Text 123"/>
          <p:cNvSpPr txBox="1"/>
          <p:nvPr/>
        </p:nvSpPr>
        <p:spPr>
          <a:xfrm>
            <a:off x="8540496" y="79552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Prometheus · structlog</a:t>
            </a:r>
            <a:endParaRPr lang="en-US" sz="1250" dirty="0"/>
          </a:p>
        </p:txBody>
      </p:sp>
      <p:sp>
        <p:nvSpPr>
          <p:cNvPr id="126" name="Text 124"/>
          <p:cNvSpPr txBox="1"/>
          <p:nvPr/>
        </p:nvSpPr>
        <p:spPr>
          <a:xfrm>
            <a:off x="8540496" y="82844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GitHub Actions · pytest · ruff</a:t>
            </a:r>
            <a:endParaRPr lang="en-US" sz="1250" dirty="0"/>
          </a:p>
        </p:txBody>
      </p:sp>
      <p:sp>
        <p:nvSpPr>
          <p:cNvPr id="127" name="Text 125"/>
          <p:cNvSpPr txBox="1"/>
          <p:nvPr/>
        </p:nvSpPr>
        <p:spPr>
          <a:xfrm>
            <a:off x="8540496" y="8613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JWT · bcrypt · 4-role RBAC</a:t>
            </a:r>
            <a:endParaRPr lang="en-US" sz="1250" dirty="0"/>
          </a:p>
        </p:txBody>
      </p:sp>
      <p:sp>
        <p:nvSpPr>
          <p:cNvPr id="128" name="Text 126"/>
          <p:cNvSpPr txBox="1"/>
          <p:nvPr/>
        </p:nvSpPr>
        <p:spPr>
          <a:xfrm>
            <a:off x="8540496" y="89428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pPr indent="0" marL="0"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HMAC-signed webhook to C2</a:t>
            </a:r>
            <a:endParaRPr lang="en-US" sz="1250" dirty="0"/>
          </a:p>
        </p:txBody>
      </p:sp>
      <p:sp>
        <p:nvSpPr>
          <p:cNvPr id="129" name="Shape 127"/>
          <p:cNvSpPr/>
          <p:nvPr/>
        </p:nvSpPr>
        <p:spPr>
          <a:xfrm>
            <a:off x="12664440" y="6309360"/>
            <a:ext cx="5166360" cy="3200400"/>
          </a:xfrm>
          <a:prstGeom prst="roundRect">
            <a:avLst>
              <a:gd name="adj" fmla="val 3429"/>
            </a:avLst>
          </a:prstGeom>
          <a:solidFill>
            <a:srgbClr val="FDF6EC"/>
          </a:solidFill>
          <a:ln w="12700">
            <a:solidFill>
              <a:srgbClr val="EBD3A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2664440" y="6309360"/>
            <a:ext cx="5166360" cy="475488"/>
          </a:xfrm>
          <a:prstGeom prst="roundRect">
            <a:avLst>
              <a:gd name="adj" fmla="val 23077"/>
            </a:avLst>
          </a:prstGeom>
          <a:solidFill>
            <a:srgbClr val="E08A1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2664440" y="6665976"/>
            <a:ext cx="5166360" cy="118872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12810744" y="6309360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APPROACH?</a:t>
            </a:r>
            <a:endParaRPr lang="en-US" sz="1700" dirty="0"/>
          </a:p>
        </p:txBody>
      </p:sp>
      <p:sp>
        <p:nvSpPr>
          <p:cNvPr id="133" name="Shape 131"/>
          <p:cNvSpPr/>
          <p:nvPr/>
        </p:nvSpPr>
        <p:spPr>
          <a:xfrm>
            <a:off x="12893040" y="7068312"/>
            <a:ext cx="137160" cy="1371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3167360" y="69494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cameras already installed - nothing to replace.</a:t>
            </a:r>
            <a:endParaRPr lang="en-US" sz="1250" dirty="0"/>
          </a:p>
        </p:txBody>
      </p:sp>
      <p:sp>
        <p:nvSpPr>
          <p:cNvPr id="135" name="Shape 133"/>
          <p:cNvSpPr/>
          <p:nvPr/>
        </p:nvSpPr>
        <p:spPr>
          <a:xfrm>
            <a:off x="12893040" y="7552944"/>
            <a:ext cx="137160" cy="1371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13167360" y="743407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ONNX, not a training stack: about 200 MB rather than 2 GB.</a:t>
            </a:r>
            <a:endParaRPr lang="en-US" sz="1250" dirty="0"/>
          </a:p>
        </p:txBody>
      </p:sp>
      <p:sp>
        <p:nvSpPr>
          <p:cNvPr id="137" name="Shape 135"/>
          <p:cNvSpPr/>
          <p:nvPr/>
        </p:nvSpPr>
        <p:spPr>
          <a:xfrm>
            <a:off x="12893040" y="8037576"/>
            <a:ext cx="137160" cy="1371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13167360" y="791870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loudly. A node that cannot detect properly says so.</a:t>
            </a:r>
            <a:endParaRPr lang="en-US" sz="1250" dirty="0"/>
          </a:p>
        </p:txBody>
      </p:sp>
      <p:sp>
        <p:nvSpPr>
          <p:cNvPr id="139" name="Shape 137"/>
          <p:cNvSpPr/>
          <p:nvPr/>
        </p:nvSpPr>
        <p:spPr>
          <a:xfrm>
            <a:off x="12893040" y="8522208"/>
            <a:ext cx="137160" cy="1371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13167360" y="840333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behind every console, so none of them drift.</a:t>
            </a:r>
            <a:endParaRPr lang="en-US" sz="1250" dirty="0"/>
          </a:p>
        </p:txBody>
      </p:sp>
      <p:sp>
        <p:nvSpPr>
          <p:cNvPr id="141" name="Shape 139"/>
          <p:cNvSpPr/>
          <p:nvPr/>
        </p:nvSpPr>
        <p:spPr>
          <a:xfrm>
            <a:off x="12893040" y="9006840"/>
            <a:ext cx="137160" cy="1371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3167360" y="888796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Measurable: 326 automated tests and a benchmark command.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 V A 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line  ·  Hold the 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2194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E A S I B I L I T Y   &amp;   V I A B I L I T 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173200" y="36576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E08A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0" y="365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PS-26187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184880" y="23774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9646920"/>
            <a:ext cx="1828800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06240" y="9692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IBVAP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9692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9692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Video Analytics Platform for Border Surveillance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236440" y="9692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1371600"/>
            <a:ext cx="5605272" cy="3977640"/>
          </a:xfrm>
          <a:prstGeom prst="roundRect">
            <a:avLst>
              <a:gd name="adj" fmla="val 2759"/>
            </a:avLst>
          </a:prstGeom>
          <a:solidFill>
            <a:srgbClr val="F2F6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371600"/>
            <a:ext cx="5605272" cy="475488"/>
          </a:xfrm>
          <a:prstGeom prst="roundRect">
            <a:avLst>
              <a:gd name="adj" fmla="val 2307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28216"/>
            <a:ext cx="5605272" cy="1188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1371600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94944" y="2148840"/>
            <a:ext cx="137160" cy="1371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9264" y="2029968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stack.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ONNX Runtime, OpenCV, FastAPI and SQLite - production-grade and open source.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" y="2770632"/>
            <a:ext cx="137160" cy="1371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" y="2651760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path.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fanless mini-PC carries several cameras; a GPU is an upgrade, not a requirement.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4944" y="3392424"/>
            <a:ext cx="137160" cy="1371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9264" y="3273552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before it is bought.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benchmark command measures the throughput of the actual hardware.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" y="4014216"/>
            <a:ext cx="137160" cy="1371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9264" y="3895344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326 automated tests across unit and integration, on Python 3.10, 3.11 and 3.12.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4944" y="4636008"/>
            <a:ext cx="137160" cy="1371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" y="4517136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ladder.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Missing artefacts fall back and are reported, never hidden.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45936" y="1371600"/>
            <a:ext cx="5605272" cy="3977640"/>
          </a:xfrm>
          <a:prstGeom prst="roundRect">
            <a:avLst>
              <a:gd name="adj" fmla="val 2759"/>
            </a:avLst>
          </a:prstGeom>
          <a:solidFill>
            <a:srgbClr val="F2F6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5936" y="1371600"/>
            <a:ext cx="5605272" cy="475488"/>
          </a:xfrm>
          <a:prstGeom prst="roundRect">
            <a:avLst>
              <a:gd name="adj" fmla="val 23077"/>
            </a:avLst>
          </a:prstGeom>
          <a:solidFill>
            <a:srgbClr val="14406E"/>
          </a:solidFill>
          <a:ln/>
        </p:spPr>
      </p:sp>
      <p:sp>
        <p:nvSpPr>
          <p:cNvPr id="30" name="Shape 28"/>
          <p:cNvSpPr/>
          <p:nvPr/>
        </p:nvSpPr>
        <p:spPr>
          <a:xfrm>
            <a:off x="6345936" y="1728216"/>
            <a:ext cx="5605272" cy="118872"/>
          </a:xfrm>
          <a:prstGeom prst="rect">
            <a:avLst/>
          </a:prstGeom>
          <a:solidFill>
            <a:srgbClr val="14406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1371600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FEASIBILITY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583680" y="2148840"/>
            <a:ext cx="137160" cy="137160"/>
          </a:xfrm>
          <a:prstGeom prst="ellipse">
            <a:avLst/>
          </a:prstGeom>
          <a:solidFill>
            <a:srgbClr val="14406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0" y="2029968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to the camera plant.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Existing feeds, existing cabling, existing power.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3680" y="2770632"/>
            <a:ext cx="137160" cy="137160"/>
          </a:xfrm>
          <a:prstGeom prst="ellipse">
            <a:avLst/>
          </a:prstGeom>
          <a:solidFill>
            <a:srgbClr val="14406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0" y="2651760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draw their own geometry.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Fences and zones are placed on a live frame, not in a config file.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83680" y="3392424"/>
            <a:ext cx="137160" cy="137160"/>
          </a:xfrm>
          <a:prstGeom prst="ellipse">
            <a:avLst/>
          </a:prstGeom>
          <a:solidFill>
            <a:srgbClr val="14406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58000" y="3273552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systemd unit or a single container, running unprivileged.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83680" y="4014216"/>
            <a:ext cx="137160" cy="137160"/>
          </a:xfrm>
          <a:prstGeom prst="ellipse">
            <a:avLst/>
          </a:prstGeom>
          <a:solidFill>
            <a:srgbClr val="14406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58000" y="3895344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air-gapped.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cloud call anywhere in the alert path.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83680" y="4636008"/>
            <a:ext cx="137160" cy="137160"/>
          </a:xfrm>
          <a:prstGeom prst="ellipse">
            <a:avLst/>
          </a:prstGeom>
          <a:solidFill>
            <a:srgbClr val="14406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58000" y="4517136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Four roles - viewer, operator, supervisor, admin - with a full audit trail.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12234672" y="1371600"/>
            <a:ext cx="5605272" cy="3977640"/>
          </a:xfrm>
          <a:prstGeom prst="roundRect">
            <a:avLst>
              <a:gd name="adj" fmla="val 2759"/>
            </a:avLst>
          </a:prstGeom>
          <a:solidFill>
            <a:srgbClr val="F2F6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234672" y="1371600"/>
            <a:ext cx="5605272" cy="475488"/>
          </a:xfrm>
          <a:prstGeom prst="roundRect">
            <a:avLst>
              <a:gd name="adj" fmla="val 23077"/>
            </a:avLst>
          </a:prstGeom>
          <a:solidFill>
            <a:srgbClr val="2E5C8A"/>
          </a:solidFill>
          <a:ln/>
        </p:spPr>
      </p:sp>
      <p:sp>
        <p:nvSpPr>
          <p:cNvPr id="44" name="Shape 42"/>
          <p:cNvSpPr/>
          <p:nvPr/>
        </p:nvSpPr>
        <p:spPr>
          <a:xfrm>
            <a:off x="12234672" y="1728216"/>
            <a:ext cx="5605272" cy="118872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2380976" y="1371600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12472416" y="2148840"/>
            <a:ext cx="137160" cy="1371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746736" y="2029968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sensors.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capital cost is already sunk in the installed CCTV.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12472416" y="2770632"/>
            <a:ext cx="137160" cy="1371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2746736" y="2651760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appliance licence.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Face matching and plate reading run in software on the same node.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2472416" y="3392424"/>
            <a:ext cx="137160" cy="1371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2746736" y="3273552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per-camera analytics fee.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stack is open source end to end.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12472416" y="4014216"/>
            <a:ext cx="137160" cy="1371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2746736" y="3895344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 per post.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sector tier reuses commodity servers already in place.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12472416" y="4636008"/>
            <a:ext cx="137160" cy="1371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2746736" y="4517136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compound.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Fewer false-alarm sorties and far less manual review time.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57200" y="5577840"/>
            <a:ext cx="5605272" cy="3931920"/>
          </a:xfrm>
          <a:prstGeom prst="roundRect">
            <a:avLst>
              <a:gd name="adj" fmla="val 2791"/>
            </a:avLst>
          </a:prstGeom>
          <a:solidFill>
            <a:srgbClr val="FDF6EC"/>
          </a:solidFill>
          <a:ln w="12700">
            <a:solidFill>
              <a:srgbClr val="EBD3A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5577840"/>
            <a:ext cx="5605272" cy="475488"/>
          </a:xfrm>
          <a:prstGeom prst="roundRect">
            <a:avLst>
              <a:gd name="adj" fmla="val 23077"/>
            </a:avLst>
          </a:prstGeom>
          <a:solidFill>
            <a:srgbClr val="E08A1E"/>
          </a:solidFill>
          <a:ln/>
        </p:spPr>
      </p:sp>
      <p:sp>
        <p:nvSpPr>
          <p:cNvPr id="58" name="Shape 56"/>
          <p:cNvSpPr/>
          <p:nvPr/>
        </p:nvSpPr>
        <p:spPr>
          <a:xfrm>
            <a:off x="457200" y="5934456"/>
            <a:ext cx="5605272" cy="118872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03504" y="5577840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STRATEGY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694944" y="6355080"/>
            <a:ext cx="137160" cy="1371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69264" y="6236208"/>
            <a:ext cx="4855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what exists.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 the installed CCTV rather than replacing it.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694944" y="6967728"/>
            <a:ext cx="137160" cy="1371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69264" y="6848856"/>
            <a:ext cx="4855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track.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detector, stable identities, class-aware from the first frame.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94944" y="7580376"/>
            <a:ext cx="137160" cy="1371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69264" y="7461504"/>
            <a:ext cx="4855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class.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second pass that separates cattle from people before any rule runs.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694944" y="8193024"/>
            <a:ext cx="137160" cy="1371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69264" y="8074152"/>
            <a:ext cx="4855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operator’s geometry.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Their fences, their zones, their thresholds.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694944" y="8805672"/>
            <a:ext cx="137160" cy="13716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69264" y="8686800"/>
            <a:ext cx="4855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Gate, sign, forward.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Deduplicate, write evidence, and survive the uplink.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6345936" y="5577840"/>
            <a:ext cx="5605272" cy="3931920"/>
          </a:xfrm>
          <a:prstGeom prst="roundRect">
            <a:avLst>
              <a:gd name="adj" fmla="val 2791"/>
            </a:avLst>
          </a:prstGeom>
          <a:solidFill>
            <a:srgbClr val="FDF1EF"/>
          </a:solidFill>
          <a:ln w="12700">
            <a:solidFill>
              <a:srgbClr val="F0C9C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45936" y="5577840"/>
            <a:ext cx="5605272" cy="475488"/>
          </a:xfrm>
          <a:prstGeom prst="roundRect">
            <a:avLst>
              <a:gd name="adj" fmla="val 23077"/>
            </a:avLst>
          </a:prstGeom>
          <a:solidFill>
            <a:srgbClr val="C0392B"/>
          </a:solidFill>
          <a:ln/>
        </p:spPr>
      </p:sp>
      <p:sp>
        <p:nvSpPr>
          <p:cNvPr id="72" name="Shape 70"/>
          <p:cNvSpPr/>
          <p:nvPr/>
        </p:nvSpPr>
        <p:spPr>
          <a:xfrm>
            <a:off x="6345936" y="5934456"/>
            <a:ext cx="5605272" cy="118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492240" y="5577840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</a:t>
            </a:r>
            <a:endParaRPr lang="en-US" sz="1700" dirty="0"/>
          </a:p>
        </p:txBody>
      </p:sp>
      <p:sp>
        <p:nvSpPr>
          <p:cNvPr id="74" name="Shape 72"/>
          <p:cNvSpPr/>
          <p:nvPr/>
        </p:nvSpPr>
        <p:spPr>
          <a:xfrm>
            <a:off x="6583680" y="6355080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858000" y="6236208"/>
            <a:ext cx="4855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erode trust.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Class-aware suppression, confirm frames and a dedup gate. On the livestock drill: 27 tracks reclassified, zero false alarms.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6583680" y="7114032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6858000" y="6995160"/>
            <a:ext cx="4855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annotated border imagery.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deterministic scenario simulator drives drills and CI; the registry takes a fine-tuned export when real data exists.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583680" y="7872984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6858000" y="7754112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hardware at remote posts.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CPU fallback path, and a benchmark that sizes the post first.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6583680" y="8494776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6858000" y="8375904"/>
            <a:ext cx="4855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uplink.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persisted outbox with capped backoff, replaying in order.</a:t>
            </a:r>
            <a:endParaRPr lang="en-US" sz="1250" dirty="0"/>
          </a:p>
        </p:txBody>
      </p:sp>
      <p:sp>
        <p:nvSpPr>
          <p:cNvPr id="82" name="Shape 80"/>
          <p:cNvSpPr/>
          <p:nvPr/>
        </p:nvSpPr>
        <p:spPr>
          <a:xfrm>
            <a:off x="6583680" y="9116568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6858000" y="8997696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challenged later.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SHA-256 per artefact and a per-day hash chain.</a:t>
            </a:r>
            <a:endParaRPr lang="en-US" sz="1250" dirty="0"/>
          </a:p>
        </p:txBody>
      </p:sp>
      <p:sp>
        <p:nvSpPr>
          <p:cNvPr id="84" name="Shape 82"/>
          <p:cNvSpPr/>
          <p:nvPr/>
        </p:nvSpPr>
        <p:spPr>
          <a:xfrm>
            <a:off x="12234672" y="5577840"/>
            <a:ext cx="5605272" cy="3931920"/>
          </a:xfrm>
          <a:prstGeom prst="roundRect">
            <a:avLst>
              <a:gd name="adj" fmla="val 2791"/>
            </a:avLst>
          </a:prstGeom>
          <a:solidFill>
            <a:srgbClr val="EFF8F3"/>
          </a:solidFill>
          <a:ln w="12700">
            <a:solidFill>
              <a:srgbClr val="C4E2D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2234672" y="5577840"/>
            <a:ext cx="5605272" cy="475488"/>
          </a:xfrm>
          <a:prstGeom prst="roundRect">
            <a:avLst>
              <a:gd name="adj" fmla="val 23077"/>
            </a:avLst>
          </a:prstGeom>
          <a:solidFill>
            <a:srgbClr val="1E8E5A"/>
          </a:solidFill>
          <a:ln/>
        </p:spPr>
      </p:sp>
      <p:sp>
        <p:nvSpPr>
          <p:cNvPr id="86" name="Shape 84"/>
          <p:cNvSpPr/>
          <p:nvPr/>
        </p:nvSpPr>
        <p:spPr>
          <a:xfrm>
            <a:off x="12234672" y="5934456"/>
            <a:ext cx="5605272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2380976" y="5577840"/>
            <a:ext cx="5312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&amp; SCALE</a:t>
            </a:r>
            <a:endParaRPr lang="en-US" sz="1700" dirty="0"/>
          </a:p>
        </p:txBody>
      </p:sp>
      <p:sp>
        <p:nvSpPr>
          <p:cNvPr id="88" name="Shape 86"/>
          <p:cNvSpPr/>
          <p:nvPr/>
        </p:nvSpPr>
        <p:spPr>
          <a:xfrm>
            <a:off x="12472416" y="6355080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12746736" y="6236208"/>
            <a:ext cx="4855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tier at the post.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SQLite in WAL mode, no external dependency, survives isolation indefinitely.</a:t>
            </a:r>
            <a:endParaRPr lang="en-US" sz="1250" dirty="0"/>
          </a:p>
        </p:txBody>
      </p:sp>
      <p:sp>
        <p:nvSpPr>
          <p:cNvPr id="90" name="Shape 88"/>
          <p:cNvSpPr/>
          <p:nvPr/>
        </p:nvSpPr>
        <p:spPr>
          <a:xfrm>
            <a:off x="12472416" y="6967728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2746736" y="6848856"/>
            <a:ext cx="4855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tier at sector.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PostgreSQL aggregating many posts into one picture.</a:t>
            </a:r>
            <a:endParaRPr lang="en-US" sz="1250" dirty="0"/>
          </a:p>
        </p:txBody>
      </p:sp>
      <p:sp>
        <p:nvSpPr>
          <p:cNvPr id="92" name="Shape 90"/>
          <p:cNvSpPr/>
          <p:nvPr/>
        </p:nvSpPr>
        <p:spPr>
          <a:xfrm>
            <a:off x="12472416" y="7580376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2746736" y="7461504"/>
            <a:ext cx="4855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post adds a node.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re-architecture, no shared bottleneck.</a:t>
            </a:r>
            <a:endParaRPr lang="en-US" sz="1250" dirty="0"/>
          </a:p>
        </p:txBody>
      </p:sp>
      <p:sp>
        <p:nvSpPr>
          <p:cNvPr id="94" name="Shape 92"/>
          <p:cNvSpPr/>
          <p:nvPr/>
        </p:nvSpPr>
        <p:spPr>
          <a:xfrm>
            <a:off x="12472416" y="8193024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2746736" y="8074152"/>
            <a:ext cx="4855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are swappable.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versioned, checksummed registry: a better model is a file, not a rebuild.</a:t>
            </a:r>
            <a:endParaRPr lang="en-US" sz="1250" dirty="0"/>
          </a:p>
        </p:txBody>
      </p:sp>
      <p:sp>
        <p:nvSpPr>
          <p:cNvPr id="96" name="Shape 94"/>
          <p:cNvSpPr/>
          <p:nvPr/>
        </p:nvSpPr>
        <p:spPr>
          <a:xfrm>
            <a:off x="12472416" y="8805672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12746736" y="8686800"/>
            <a:ext cx="48554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many settings.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Fence lines, gates, border roads and check posts.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 V A 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line  ·  Hold the 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2194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 P A C T   &amp;   B E N E F I T 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173200" y="36576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E08A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0" y="365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PS-26187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184880" y="23774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9646920"/>
            <a:ext cx="1828800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06240" y="9692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IBVAP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9692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9692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Video Analytics Platform for Border Surveillance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236440" y="9692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1371600"/>
            <a:ext cx="7589520" cy="2514600"/>
          </a:xfrm>
          <a:prstGeom prst="roundRect">
            <a:avLst>
              <a:gd name="adj" fmla="val 4364"/>
            </a:avLst>
          </a:prstGeom>
          <a:solidFill>
            <a:srgbClr val="F2F6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371600"/>
            <a:ext cx="7589520" cy="475488"/>
          </a:xfrm>
          <a:prstGeom prst="roundRect">
            <a:avLst>
              <a:gd name="adj" fmla="val 2307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28216"/>
            <a:ext cx="7589520" cy="1188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1371600"/>
            <a:ext cx="7296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OPERATIONAL IMPACT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4944" y="2130552"/>
            <a:ext cx="137160" cy="1371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9264" y="201168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watched, all night, to one standard - attention no longer decays.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" y="2587752"/>
            <a:ext cx="137160" cy="1371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" y="246888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arrive class-aware, naming the rule and the zone that fired.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4944" y="3044952"/>
            <a:ext cx="137160" cy="1371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9264" y="292608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and face checks happen at the post, in seconds, without the frame leaving 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" y="3502152"/>
            <a:ext cx="137160" cy="1371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9264" y="338328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Sentries move from staring at a wall to responding to something specific.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7589520" cy="2514600"/>
          </a:xfrm>
          <a:prstGeom prst="roundRect">
            <a:avLst>
              <a:gd name="adj" fmla="val 4364"/>
            </a:avLst>
          </a:prstGeom>
          <a:solidFill>
            <a:srgbClr val="F2F6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23360"/>
            <a:ext cx="7589520" cy="475488"/>
          </a:xfrm>
          <a:prstGeom prst="roundRect">
            <a:avLst>
              <a:gd name="adj" fmla="val 23077"/>
            </a:avLst>
          </a:prstGeom>
          <a:solidFill>
            <a:srgbClr val="2E5C8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379976"/>
            <a:ext cx="7589520" cy="118872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3504" y="4023360"/>
            <a:ext cx="7296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IMPACT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4944" y="4782312"/>
            <a:ext cx="137160" cy="1371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" y="466344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added to CCTV that is already paid for, cabled and powered.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94944" y="5239512"/>
            <a:ext cx="137160" cy="1371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" y="512064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face-recognition or plate-reader appliance to buy and licence per post.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4944" y="5696712"/>
            <a:ext cx="137160" cy="1371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" y="557784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false-alarm sorties, each of which costs fuel, hours and risk.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94944" y="6153912"/>
            <a:ext cx="137160" cy="1371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" y="603504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work in deployment and tuning rather than in watching screens.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6675120"/>
            <a:ext cx="7589520" cy="2514600"/>
          </a:xfrm>
          <a:prstGeom prst="roundRect">
            <a:avLst>
              <a:gd name="adj" fmla="val 4364"/>
            </a:avLst>
          </a:prstGeom>
          <a:solidFill>
            <a:srgbClr val="EFF8F3"/>
          </a:solidFill>
          <a:ln w="12700">
            <a:solidFill>
              <a:srgbClr val="C4E2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6675120"/>
            <a:ext cx="7589520" cy="475488"/>
          </a:xfrm>
          <a:prstGeom prst="roundRect">
            <a:avLst>
              <a:gd name="adj" fmla="val 23077"/>
            </a:avLst>
          </a:prstGeom>
          <a:solidFill>
            <a:srgbClr val="1E8E5A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7031736"/>
            <a:ext cx="7589520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03504" y="6675120"/>
            <a:ext cx="7296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SOCIAL, ENVIRONMENTAL &amp; GOVERNANCE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94944" y="7434072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9264" y="73152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carries its evidence and audit trail, so a decision can be reviewed later.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94944" y="7891272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9264" y="77724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embeddings are kept only for watchlist enrolment - never for passers-by.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94944" y="8348472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9264" y="82296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over replacement: no new hardware to manufacture, ship or dispose of.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94944" y="8805672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69264" y="86868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low-power edge node per post, sized to the load rather than over-provisioned.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321040" y="1371600"/>
            <a:ext cx="9509760" cy="502920"/>
          </a:xfrm>
          <a:prstGeom prst="roundRect">
            <a:avLst>
              <a:gd name="adj" fmla="val 18182"/>
            </a:avLst>
          </a:prstGeom>
          <a:solidFill>
            <a:srgbClr val="E08A1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321040" y="13716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O W   I B V A P   W O R K S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8321040" y="2057400"/>
            <a:ext cx="3017520" cy="5760720"/>
          </a:xfrm>
          <a:prstGeom prst="roundRect">
            <a:avLst>
              <a:gd name="adj" fmla="val 3636"/>
            </a:avLst>
          </a:prstGeom>
          <a:solidFill>
            <a:srgbClr val="F2F6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21040" y="2057400"/>
            <a:ext cx="3017520" cy="475488"/>
          </a:xfrm>
          <a:prstGeom prst="roundRect">
            <a:avLst>
              <a:gd name="adj" fmla="val 23077"/>
            </a:avLst>
          </a:prstGeom>
          <a:solidFill>
            <a:srgbClr val="0B1F3A"/>
          </a:solidFill>
          <a:ln/>
        </p:spPr>
      </p:sp>
      <p:sp>
        <p:nvSpPr>
          <p:cNvPr id="54" name="Shape 52"/>
          <p:cNvSpPr/>
          <p:nvPr/>
        </p:nvSpPr>
        <p:spPr>
          <a:xfrm>
            <a:off x="8321040" y="2414016"/>
            <a:ext cx="3017520" cy="1188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467344" y="205740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WATCH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8449056" y="2121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1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503920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configured camera, continuously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8503920" y="368503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detect → classify → track → rules → event gate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8503920" y="46725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with class, zone, rule, track IDs, snapshot and clip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8503920" y="566013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Sub-second, at the post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503920" y="66476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lines, gates and border roads under standing watch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1567160" y="2057400"/>
            <a:ext cx="3017520" cy="5760720"/>
          </a:xfrm>
          <a:prstGeom prst="roundRect">
            <a:avLst>
              <a:gd name="adj" fmla="val 3636"/>
            </a:avLst>
          </a:prstGeom>
          <a:solidFill>
            <a:srgbClr val="FDF6EC"/>
          </a:solidFill>
          <a:ln w="12700">
            <a:solidFill>
              <a:srgbClr val="EBD3A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67160" y="2057400"/>
            <a:ext cx="3017520" cy="475488"/>
          </a:xfrm>
          <a:prstGeom prst="roundRect">
            <a:avLst>
              <a:gd name="adj" fmla="val 23077"/>
            </a:avLst>
          </a:prstGeom>
          <a:solidFill>
            <a:srgbClr val="E08A1E"/>
          </a:solidFill>
          <a:ln/>
        </p:spPr>
      </p:sp>
      <p:sp>
        <p:nvSpPr>
          <p:cNvPr id="64" name="Shape 62"/>
          <p:cNvSpPr/>
          <p:nvPr/>
        </p:nvSpPr>
        <p:spPr>
          <a:xfrm>
            <a:off x="11567160" y="2414016"/>
            <a:ext cx="3017520" cy="118872"/>
          </a:xfrm>
          <a:prstGeom prst="rect">
            <a:avLst/>
          </a:prstGeom>
          <a:solidFill>
            <a:srgbClr val="E08A1E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1713464" y="205740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REVIEW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11695176" y="2121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2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11750040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source, tuned by hand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1750040" y="368503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source → pick detector → move thresholds → draw the fence line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1750040" y="46725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video, live counters, alert log, JSON export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1750040" y="566013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demand, no node required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11750040" y="66476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a site, reviewing footage, briefing and training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4813280" y="2057400"/>
            <a:ext cx="3017520" cy="5760720"/>
          </a:xfrm>
          <a:prstGeom prst="roundRect">
            <a:avLst>
              <a:gd name="adj" fmla="val 3636"/>
            </a:avLst>
          </a:prstGeom>
          <a:solidFill>
            <a:srgbClr val="EFF8F3"/>
          </a:solidFill>
          <a:ln w="12700">
            <a:solidFill>
              <a:srgbClr val="C4E2D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813280" y="2057400"/>
            <a:ext cx="3017520" cy="475488"/>
          </a:xfrm>
          <a:prstGeom prst="roundRect">
            <a:avLst>
              <a:gd name="adj" fmla="val 23077"/>
            </a:avLst>
          </a:prstGeom>
          <a:solidFill>
            <a:srgbClr val="1E8E5A"/>
          </a:solidFill>
          <a:ln/>
        </p:spPr>
      </p:sp>
      <p:sp>
        <p:nvSpPr>
          <p:cNvPr id="74" name="Shape 72"/>
          <p:cNvSpPr/>
          <p:nvPr/>
        </p:nvSpPr>
        <p:spPr>
          <a:xfrm>
            <a:off x="14813280" y="2414016"/>
            <a:ext cx="3017520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4959584" y="2057400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PICTURE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14941296" y="2121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3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14996160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headquarters and the C2 system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4996160" y="368503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webhook → outbox replay → aggregation across posts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14996160" y="467258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Cross-post trends, recurring hotspots, verified evidence chain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14996160" y="566013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and resilient to uplink loss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4996160" y="66476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decisions and post-incident review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321040" y="8001000"/>
            <a:ext cx="9509760" cy="1508760"/>
          </a:xfrm>
          <a:prstGeom prst="roundRect">
            <a:avLst>
              <a:gd name="adj" fmla="val 7273"/>
            </a:avLst>
          </a:prstGeom>
          <a:solidFill>
            <a:srgbClr val="0B1F3A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8412480" y="81381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84" name="Text 82"/>
          <p:cNvSpPr txBox="1"/>
          <p:nvPr/>
        </p:nvSpPr>
        <p:spPr>
          <a:xfrm>
            <a:off x="8430768" y="8723376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CAMERAS REQUIRED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0698480" y="8275320"/>
            <a:ext cx="18288" cy="9601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789920" y="81381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→ 0</a:t>
            </a:r>
            <a:endParaRPr lang="en-US" sz="2600" dirty="0"/>
          </a:p>
        </p:txBody>
      </p:sp>
      <p:sp>
        <p:nvSpPr>
          <p:cNvPr id="87" name="Text 85"/>
          <p:cNvSpPr txBox="1"/>
          <p:nvPr/>
        </p:nvSpPr>
        <p:spPr>
          <a:xfrm>
            <a:off x="10808208" y="8723376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TRACKS RECLASSIFIED → FALSE ALARMS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3075920" y="8275320"/>
            <a:ext cx="18288" cy="9601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13167360" y="81381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MB</a:t>
            </a:r>
            <a:endParaRPr lang="en-US" sz="2600" dirty="0"/>
          </a:p>
        </p:txBody>
      </p:sp>
      <p:sp>
        <p:nvSpPr>
          <p:cNvPr id="90" name="Text 88"/>
          <p:cNvSpPr txBox="1"/>
          <p:nvPr/>
        </p:nvSpPr>
        <p:spPr>
          <a:xfrm>
            <a:off x="13185648" y="8723376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RUNTIME FOOTPRINT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5453360" y="8275320"/>
            <a:ext cx="18288" cy="9601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5544800" y="81381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326</a:t>
            </a:r>
            <a:endParaRPr lang="en-US" sz="2600" dirty="0"/>
          </a:p>
        </p:txBody>
      </p:sp>
      <p:sp>
        <p:nvSpPr>
          <p:cNvPr id="93" name="Text 91"/>
          <p:cNvSpPr txBox="1"/>
          <p:nvPr/>
        </p:nvSpPr>
        <p:spPr>
          <a:xfrm>
            <a:off x="15563088" y="8723376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 V A 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line  ·  Hold the 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77640" y="2194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 S E A R C H   &amp;   R E F E R E N C E 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173200" y="36576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E08A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0" y="365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PS-26187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184880" y="23774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3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9646920"/>
            <a:ext cx="18288000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06240" y="9692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IBVAP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969264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9692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Video Analytics Platform for Border Surveillance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7236440" y="9692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1371600"/>
            <a:ext cx="17373600" cy="4800600"/>
          </a:xfrm>
          <a:prstGeom prst="roundRect">
            <a:avLst>
              <a:gd name="adj" fmla="val 2286"/>
            </a:avLst>
          </a:prstGeom>
          <a:solidFill>
            <a:srgbClr val="F2F6FA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371600"/>
            <a:ext cx="17373600" cy="475488"/>
          </a:xfrm>
          <a:prstGeom prst="roundRect">
            <a:avLst>
              <a:gd name="adj" fmla="val 23077"/>
            </a:avLst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28216"/>
            <a:ext cx="17373600" cy="11887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1371600"/>
            <a:ext cx="1708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THE DESIGN RESTS 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2066544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2048256"/>
            <a:ext cx="1636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Sultani, Chen &amp; Shah (2018)  </a:t>
            </a:r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Anomaly Detection in Surveillance Videos - CVPR 2018.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" y="2377440"/>
            <a:ext cx="1289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Weakly supervised anomaly detection over long, untrimmed surveillance video: the setting a border camera actually produces, where labels are scarce and the interesting minute is buried in a quiet week.</a:t>
            </a:r>
            <a:endParaRPr lang="en-US" sz="1200" dirty="0"/>
          </a:p>
        </p:txBody>
      </p:sp>
      <p:sp>
        <p:nvSpPr>
          <p:cNvPr id="22" name="Text 20">
            <a:hlinkClick r:id="rId1" tooltip=""/>
          </p:cNvPr>
          <p:cNvSpPr txBox="1"/>
          <p:nvPr/>
        </p:nvSpPr>
        <p:spPr>
          <a:xfrm>
            <a:off x="14173200" y="23774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1440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https://arxiv.org/abs/1801.04264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" y="2907792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2889504"/>
            <a:ext cx="1636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et al. (2024)  </a:t>
            </a:r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DETRs Beat YOLOs on Real-time Object Detection (RT-DETR) - CVPR 2024.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3218688"/>
            <a:ext cx="1289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transformer detector that removes the non-maximum-suppression pass entirely - a real saving on an edge node carrying many cameras on few cores, and why RT-DETR is a first-class detector option in IBVAP.</a:t>
            </a:r>
            <a:endParaRPr lang="en-US" sz="1200" dirty="0"/>
          </a:p>
        </p:txBody>
      </p:sp>
      <p:sp>
        <p:nvSpPr>
          <p:cNvPr id="27" name="Text 25">
            <a:hlinkClick r:id="rId2" tooltip=""/>
          </p:cNvPr>
          <p:cNvSpPr txBox="1"/>
          <p:nvPr/>
        </p:nvSpPr>
        <p:spPr>
          <a:xfrm>
            <a:off x="14173200" y="32186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1440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https://arxiv.org/abs/2304.08069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3232" y="3749040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3232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3730752"/>
            <a:ext cx="1636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(2022)  </a:t>
            </a:r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ByteTrack: Multi-Object Tracking by Associating Every Detection Box - ECCV 2022.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059936"/>
            <a:ext cx="1289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Associating low-scoring boxes as well as high-scoring ones keeps an identity alive through the partial occlusion a fence, a post or a vehicle causes - the basis of the tracker used here.</a:t>
            </a:r>
            <a:endParaRPr lang="en-US" sz="1200" dirty="0"/>
          </a:p>
        </p:txBody>
      </p:sp>
      <p:sp>
        <p:nvSpPr>
          <p:cNvPr id="32" name="Text 30">
            <a:hlinkClick r:id="rId3" tooltip=""/>
          </p:cNvPr>
          <p:cNvSpPr txBox="1"/>
          <p:nvPr/>
        </p:nvSpPr>
        <p:spPr>
          <a:xfrm>
            <a:off x="14173200" y="40599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1440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https://arxiv.org/abs/2110.06864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3232" y="4590288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4590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" y="4572000"/>
            <a:ext cx="1636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Howard et al. (2019)  </a:t>
            </a:r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MobileNetV3 - ICCV 2019.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4901184"/>
            <a:ext cx="1289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efficient classification backbone behind the once-per-track refinement stage, which is what lets the platform tell a cow from a person cheaply enough to run on every new track at the edge.</a:t>
            </a:r>
            <a:endParaRPr lang="en-US" sz="1200" dirty="0"/>
          </a:p>
        </p:txBody>
      </p:sp>
      <p:sp>
        <p:nvSpPr>
          <p:cNvPr id="37" name="Text 35">
            <a:hlinkClick r:id="rId4" tooltip=""/>
          </p:cNvPr>
          <p:cNvSpPr txBox="1"/>
          <p:nvPr/>
        </p:nvSpPr>
        <p:spPr>
          <a:xfrm>
            <a:off x="14173200" y="49011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1440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https://arxiv.org/abs/1905.02244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3232" y="5431536"/>
            <a:ext cx="310896" cy="310896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3232" y="5431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152144" y="5413248"/>
            <a:ext cx="1636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 et al. (2019)  </a:t>
            </a:r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ArcFace: Additive Angular Margin Loss for Deep Face Recognition - CVPR 2019.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" y="5742432"/>
            <a:ext cx="1289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additive angular margin objective that produces the 512-dimensional embeddings compared by cosine similarity in the face-matching stage, with a margin over the runner-up rather than a bare threshold.</a:t>
            </a:r>
            <a:endParaRPr lang="en-US" sz="1200" dirty="0"/>
          </a:p>
        </p:txBody>
      </p:sp>
      <p:sp>
        <p:nvSpPr>
          <p:cNvPr id="42" name="Text 40">
            <a:hlinkClick r:id="rId5" tooltip=""/>
          </p:cNvPr>
          <p:cNvSpPr txBox="1"/>
          <p:nvPr/>
        </p:nvSpPr>
        <p:spPr>
          <a:xfrm>
            <a:off x="14173200" y="57424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1440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https://arxiv.org/abs/1801.07698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400800"/>
            <a:ext cx="8549640" cy="3108960"/>
          </a:xfrm>
          <a:prstGeom prst="roundRect">
            <a:avLst>
              <a:gd name="adj" fmla="val 3529"/>
            </a:avLst>
          </a:prstGeom>
          <a:solidFill>
            <a:srgbClr val="FDF1EF"/>
          </a:solidFill>
          <a:ln w="12700">
            <a:solidFill>
              <a:srgbClr val="F0C9C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6400800"/>
            <a:ext cx="8549640" cy="475488"/>
          </a:xfrm>
          <a:prstGeom prst="roundRect">
            <a:avLst>
              <a:gd name="adj" fmla="val 23077"/>
            </a:avLst>
          </a:prstGeom>
          <a:solidFill>
            <a:srgbClr val="C0392B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6757416"/>
            <a:ext cx="8549640" cy="118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03504" y="6400800"/>
            <a:ext cx="8257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 TODAY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713232" y="7178040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87552" y="70591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CCTV monitoring.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sentry watching a video wall; attention measurably decays within the hour.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13232" y="7790688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87552" y="767181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and tripwire alarms in a VMS.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Pixels changed - but a cow, a branch and a man look identical.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13232" y="8403336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87552" y="828446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FRS and ANPR appliances.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Capable, but bought, cabled and licensed separately for every post.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713232" y="9015984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87552" y="889711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video analytics.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Needs the bandwidth and the uninterrupted uplink a border post does not have.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9281160" y="6400800"/>
            <a:ext cx="8549640" cy="3108960"/>
          </a:xfrm>
          <a:prstGeom prst="roundRect">
            <a:avLst>
              <a:gd name="adj" fmla="val 3529"/>
            </a:avLst>
          </a:prstGeom>
          <a:solidFill>
            <a:srgbClr val="EFF8F3"/>
          </a:solidFill>
          <a:ln w="12700">
            <a:solidFill>
              <a:srgbClr val="C4E2D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81160" y="6400800"/>
            <a:ext cx="8549640" cy="475488"/>
          </a:xfrm>
          <a:prstGeom prst="roundRect">
            <a:avLst>
              <a:gd name="adj" fmla="val 23077"/>
            </a:avLst>
          </a:prstGeom>
          <a:solidFill>
            <a:srgbClr val="1E8E5A"/>
          </a:solidFill>
          <a:ln/>
        </p:spPr>
      </p:sp>
      <p:sp>
        <p:nvSpPr>
          <p:cNvPr id="57" name="Shape 55"/>
          <p:cNvSpPr/>
          <p:nvPr/>
        </p:nvSpPr>
        <p:spPr>
          <a:xfrm>
            <a:off x="9281160" y="6757416"/>
            <a:ext cx="8549640" cy="118872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427464" y="6400800"/>
            <a:ext cx="8257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IBVAP STANDS OUT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9537192" y="7178040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811512" y="70591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Class-aware alerts.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Person, vehicle, animal or bag - livestock suppressed by name, not by a threshold.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9537192" y="7790688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811512" y="767181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and plate reading in software.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Same node, same frame, no extra appliance at the post.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9537192" y="8403336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9811512" y="828446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the edge, offline.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alert path never leaves the post; an outbox handles the uplink.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9537192" y="9015984"/>
            <a:ext cx="137160" cy="1371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811512" y="889711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evidence and honest degradation.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5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Hash-chained artefacts, and a node that reports what it cannot do.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SIH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IBVAP - SIH 2026 - PS 26187 - Border Video Analytics</dc:title>
  <dc:subject>AI-Based Intelligent Video Analytics Platform for Border Surveillance</dc:subject>
  <dc:creator>IBVAP</dc:creator>
  <cp:lastModifiedBy>IBVAP</cp:lastModifiedBy>
  <cp:revision>1</cp:revision>
  <dcterms:created xsi:type="dcterms:W3CDTF">2026-09-08T06:40:35Z</dcterms:created>
  <dcterms:modified xsi:type="dcterms:W3CDTF">2026-09-08T06:40:35Z</dcterms:modified>
</cp:coreProperties>
</file>