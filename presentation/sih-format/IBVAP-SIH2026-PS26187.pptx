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IBVAP turns installed CCTV into an analytics network. The three cards map one-to-one onto the template's pointers; the strip is the actual pipeline.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Top row is the stack, bottom row the six pipeline stages in order. Both are what the repository actually contains.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Left column names the risk, right column the mitigation already built. The livestock figure is measured on the cattle drill, not projected.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The four figures at the bottom are measured, not estimated.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Five papers the implementation genuinely rests on, each with the reason it is in the design. Lower half is the competitive read.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 ID and team name are filled from the SIH portal registration.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/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1A222C"/>
                </a:solidFill>
                <a:latin typeface="Times New Roman"/>
              </a:rPr>
              <a:t>TITLE PAGE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1400" b="1" i="0">
                <a:solidFill>
                  <a:srgbClr val="0071C1"/>
                </a:solidFill>
                <a:latin typeface="Arial"/>
              </a:rPr>
              <a:t>IBVAP — Intelligent Border Video Analytics Platform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783080"/>
            <a:ext cx="5989320" cy="484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1A222C"/>
                </a:solidFill>
                <a:latin typeface="Arial"/>
              </a:rPr>
              <a:t>Problem Statement ID – 26187</a:t>
            </a:r>
            <a:endParaRPr lang="en-US" dirty="0"/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1A222C"/>
                </a:solidFill>
                <a:latin typeface="Arial"/>
              </a:rPr>
              <a:t>Problem Statement Title – AI-Based Intelligent Video Analytics Platform for Border Surveillance using existing CCTV Infrastructure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1A222C"/>
                </a:solidFill>
                <a:latin typeface="Arial"/>
              </a:rPr>
              <a:t>Theme – Smart Automation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1A222C"/>
                </a:solidFill>
                <a:latin typeface="Arial"/>
              </a:rPr>
              <a:t>PS Category – Software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1A222C"/>
                </a:solidFill>
                <a:latin typeface="Arial"/>
              </a:rPr>
              <a:t>Organisation – Ministry of Home Affairs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1A222C"/>
                </a:solidFill>
                <a:latin typeface="Arial"/>
              </a:rPr>
              <a:t>Department – Sashastra Seema Bal (SSB), Police II Division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1A222C"/>
                </a:solidFill>
                <a:latin typeface="Arial"/>
              </a:rPr>
              <a:t>Team ID – ______________________</a:t>
            </a:r>
          </a:p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A222C"/>
                </a:solidFill>
                <a:latin typeface="Arial"/>
              </a:rPr>
              <a:t>Team Name (Registered on portal) – ______________________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411480" y="5230368"/>
            <a:ext cx="1645920" cy="530352"/>
          </a:xfrm>
          <a:prstGeom prst="roundRect">
            <a:avLst>
              <a:gd name="adj" fmla="val 8000"/>
            </a:avLst>
          </a:prstGeom>
          <a:solidFill>
            <a:srgbClr val="2249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EXISTING CCTV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Arial"/>
              </a:rPr>
              <a:t>no new sensors at the post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176272" y="5230368"/>
            <a:ext cx="1645920" cy="530352"/>
          </a:xfrm>
          <a:prstGeom prst="roundRect">
            <a:avLst>
              <a:gd name="adj" fmla="val 8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RUNS OFFLINE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Arial"/>
              </a:rPr>
              <a:t>the alert path stays inside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41063" y="5230368"/>
            <a:ext cx="1645920" cy="530352"/>
          </a:xfrm>
          <a:prstGeom prst="roundRect">
            <a:avLst>
              <a:gd name="adj" fmla="val 8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SIGNED EVIDENCE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Arial"/>
              </a:rPr>
              <a:t>hash-chained, day by 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/>
          <a:lstStyle/>
          <a:p>
            <a:pPr eaLnBrk="1" hangingPunct="1" algn="ctr"/>
            <a:r>
              <a:rPr sz="2600" b="1" i="0">
                <a:solidFill>
                  <a:srgbClr val="1A222C"/>
                </a:solidFill>
                <a:latin typeface="Times New Roman"/>
              </a:rPr>
              <a:t>IBVAP — Intelligent Border Video Analytics Platform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11480" y="1097280"/>
            <a:ext cx="113842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sz="1500" b="1" i="0">
                <a:solidFill>
                  <a:srgbClr val="0071C1"/>
                </a:solidFill>
                <a:latin typeface="Arial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224974"/>
                </a:solidFill>
                <a:latin typeface="Arial"/>
              </a:rPr>
              <a:t>IBVAP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411480" y="1481328"/>
            <a:ext cx="3639312" cy="214884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Rounded Rectangle 15363"/>
          <p:cNvSpPr/>
          <p:nvPr/>
        </p:nvSpPr>
        <p:spPr>
          <a:xfrm>
            <a:off x="411480" y="1481328"/>
            <a:ext cx="3639312" cy="310896"/>
          </a:xfrm>
          <a:prstGeom prst="roundRect">
            <a:avLst>
              <a:gd name="adj" fmla="val 8000"/>
            </a:avLst>
          </a:prstGeom>
          <a:solidFill>
            <a:srgbClr val="2249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DETAILED EXPLANATION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521208" y="1847088"/>
            <a:ext cx="3419856" cy="172821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22C"/>
                </a:solidFill>
                <a:latin typeface="Arial"/>
              </a:rPr>
              <a:t>Software-only analytics on the CCTV a post already has — no new cameras.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1A222C"/>
                </a:solidFill>
                <a:latin typeface="Arial"/>
              </a:rPr>
              <a:t>One edge node per BOP: detect → classify → track → recognise → rules → alert.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1A222C"/>
                </a:solidFill>
                <a:latin typeface="Arial"/>
              </a:rPr>
              <a:t>Operators draw fences and zones on a live frame; no config files at the post.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1A222C"/>
                </a:solidFill>
                <a:latin typeface="Arial"/>
              </a:rPr>
              <a:t>Alerts reach the control room and the sector C2 over a signed webhook.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4279392" y="1481328"/>
            <a:ext cx="3639312" cy="214884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7" name="Rounded Rectangle 15366"/>
          <p:cNvSpPr/>
          <p:nvPr/>
        </p:nvSpPr>
        <p:spPr>
          <a:xfrm>
            <a:off x="4279392" y="1481328"/>
            <a:ext cx="3639312" cy="310896"/>
          </a:xfrm>
          <a:prstGeom prst="roundRect">
            <a:avLst>
              <a:gd name="adj" fmla="val 8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4389120" y="1847088"/>
            <a:ext cx="3419856" cy="172821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22C"/>
                </a:solidFill>
                <a:latin typeface="Arial"/>
              </a:rPr>
              <a:t>Every camera watched all night to one standard — attention never decays.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1A222C"/>
                </a:solidFill>
                <a:latin typeface="Arial"/>
              </a:rPr>
              <a:t>Class-aware alerts naming the rule and zone, not bare motion.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1A222C"/>
                </a:solidFill>
                <a:latin typeface="Arial"/>
              </a:rPr>
              <a:t>Face and plate reading in software — no FRS or ANPR appliance per post.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1A222C"/>
                </a:solidFill>
                <a:latin typeface="Arial"/>
              </a:rPr>
              <a:t>Runs offline: the alert path never leaves the post.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8147304" y="1481328"/>
            <a:ext cx="3639312" cy="2148840"/>
          </a:xfrm>
          <a:prstGeom prst="roundRect">
            <a:avLst>
              <a:gd name="adj" fmla="val 8000"/>
            </a:avLst>
          </a:prstGeom>
          <a:solidFill>
            <a:srgbClr val="FDF6EC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Rounded Rectangle 15369"/>
          <p:cNvSpPr/>
          <p:nvPr/>
        </p:nvSpPr>
        <p:spPr>
          <a:xfrm>
            <a:off x="8147304" y="1481328"/>
            <a:ext cx="3639312" cy="310896"/>
          </a:xfrm>
          <a:prstGeom prst="roundRect">
            <a:avLst>
              <a:gd name="adj" fmla="val 8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INNOVATION AND UNIQUENESS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8257031" y="1847088"/>
            <a:ext cx="3419856" cy="172821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22C"/>
                </a:solidFill>
                <a:latin typeface="Arial"/>
              </a:rPr>
              <a:t>Livestock suppressed by class, not threshold — the dominant false alarm.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1A222C"/>
                </a:solidFill>
                <a:latin typeface="Arial"/>
              </a:rPr>
              <a:t>A plate is decided by weighted vote across the vehicle's passage, not one frame.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1A222C"/>
                </a:solidFill>
                <a:latin typeface="Arial"/>
              </a:rPr>
              <a:t>Degrades loudly: a node that cannot detect properly says so.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1A222C"/>
                </a:solidFill>
                <a:latin typeface="Arial"/>
              </a:rPr>
              <a:t>Evidence hash-chained per day — alteration and deletion both detectable.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411480" y="3977639"/>
            <a:ext cx="1417320" cy="658368"/>
          </a:xfrm>
          <a:prstGeom prst="roundRect">
            <a:avLst>
              <a:gd name="adj" fmla="val 8000"/>
            </a:avLst>
          </a:prstGeom>
          <a:solidFill>
            <a:srgbClr val="546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EXISTING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Arial"/>
              </a:rPr>
              <a:t>CCTV</a:t>
            </a:r>
          </a:p>
        </p:txBody>
      </p:sp>
      <p:sp>
        <p:nvSpPr>
          <p:cNvPr id="15373" name="Right Arrow 15372"/>
          <p:cNvSpPr/>
          <p:nvPr/>
        </p:nvSpPr>
        <p:spPr>
          <a:xfrm>
            <a:off x="1856231" y="4233672"/>
            <a:ext cx="219456" cy="146304"/>
          </a:xfrm>
          <a:prstGeom prst="rightArrow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4" name="Rounded Rectangle 15373"/>
          <p:cNvSpPr/>
          <p:nvPr/>
        </p:nvSpPr>
        <p:spPr>
          <a:xfrm>
            <a:off x="2103120" y="3977639"/>
            <a:ext cx="1417320" cy="658368"/>
          </a:xfrm>
          <a:prstGeom prst="roundRect">
            <a:avLst>
              <a:gd name="adj" fmla="val 8000"/>
            </a:avLst>
          </a:prstGeom>
          <a:solidFill>
            <a:srgbClr val="2249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DETECT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Arial"/>
              </a:rPr>
              <a:t>RT-DETR / YOLO</a:t>
            </a:r>
          </a:p>
        </p:txBody>
      </p:sp>
      <p:sp>
        <p:nvSpPr>
          <p:cNvPr id="15375" name="Right Arrow 15374"/>
          <p:cNvSpPr/>
          <p:nvPr/>
        </p:nvSpPr>
        <p:spPr>
          <a:xfrm>
            <a:off x="3547871" y="4233672"/>
            <a:ext cx="219456" cy="146304"/>
          </a:xfrm>
          <a:prstGeom prst="rightArrow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6" name="Rounded Rectangle 15375"/>
          <p:cNvSpPr/>
          <p:nvPr/>
        </p:nvSpPr>
        <p:spPr>
          <a:xfrm>
            <a:off x="3794759" y="3977639"/>
            <a:ext cx="1417320" cy="658368"/>
          </a:xfrm>
          <a:prstGeom prst="roundRect">
            <a:avLst>
              <a:gd name="adj" fmla="val 8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CLASSIFY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Arial"/>
              </a:rPr>
              <a:t>MobileNetV3</a:t>
            </a:r>
          </a:p>
        </p:txBody>
      </p:sp>
      <p:sp>
        <p:nvSpPr>
          <p:cNvPr id="15377" name="Right Arrow 15376"/>
          <p:cNvSpPr/>
          <p:nvPr/>
        </p:nvSpPr>
        <p:spPr>
          <a:xfrm>
            <a:off x="5239512" y="4233672"/>
            <a:ext cx="219456" cy="146304"/>
          </a:xfrm>
          <a:prstGeom prst="rightArrow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8" name="Rounded Rectangle 15377"/>
          <p:cNvSpPr/>
          <p:nvPr/>
        </p:nvSpPr>
        <p:spPr>
          <a:xfrm>
            <a:off x="5486399" y="3977639"/>
            <a:ext cx="1417320" cy="658368"/>
          </a:xfrm>
          <a:prstGeom prst="roundRect">
            <a:avLst>
              <a:gd name="adj" fmla="val 8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TRACK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Arial"/>
              </a:rPr>
              <a:t>ByteTrack + Kalman</a:t>
            </a:r>
          </a:p>
        </p:txBody>
      </p:sp>
      <p:sp>
        <p:nvSpPr>
          <p:cNvPr id="15379" name="Right Arrow 15378"/>
          <p:cNvSpPr/>
          <p:nvPr/>
        </p:nvSpPr>
        <p:spPr>
          <a:xfrm>
            <a:off x="6931151" y="4233672"/>
            <a:ext cx="219456" cy="146304"/>
          </a:xfrm>
          <a:prstGeom prst="rightArrow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0" name="Rounded Rectangle 15379"/>
          <p:cNvSpPr/>
          <p:nvPr/>
        </p:nvSpPr>
        <p:spPr>
          <a:xfrm>
            <a:off x="7178039" y="3977639"/>
            <a:ext cx="1417320" cy="658368"/>
          </a:xfrm>
          <a:prstGeom prst="roundRect">
            <a:avLst>
              <a:gd name="adj" fmla="val 8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RECOGNISE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Arial"/>
              </a:rPr>
              <a:t>ANPR · Face</a:t>
            </a:r>
          </a:p>
        </p:txBody>
      </p:sp>
      <p:sp>
        <p:nvSpPr>
          <p:cNvPr id="15381" name="Right Arrow 15380"/>
          <p:cNvSpPr/>
          <p:nvPr/>
        </p:nvSpPr>
        <p:spPr>
          <a:xfrm>
            <a:off x="8622791" y="4233672"/>
            <a:ext cx="219456" cy="146304"/>
          </a:xfrm>
          <a:prstGeom prst="rightArrow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2" name="Rounded Rectangle 15381"/>
          <p:cNvSpPr/>
          <p:nvPr/>
        </p:nvSpPr>
        <p:spPr>
          <a:xfrm>
            <a:off x="8869680" y="3977639"/>
            <a:ext cx="1417320" cy="658368"/>
          </a:xfrm>
          <a:prstGeom prst="roundRect">
            <a:avLst>
              <a:gd name="adj" fmla="val 8000"/>
            </a:avLst>
          </a:prstGeom>
          <a:solidFill>
            <a:srgbClr val="2249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ANALYSE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Arial"/>
              </a:rPr>
              <a:t>10 rules</a:t>
            </a:r>
          </a:p>
        </p:txBody>
      </p:sp>
      <p:sp>
        <p:nvSpPr>
          <p:cNvPr id="15383" name="Right Arrow 15382"/>
          <p:cNvSpPr/>
          <p:nvPr/>
        </p:nvSpPr>
        <p:spPr>
          <a:xfrm>
            <a:off x="10314432" y="4233672"/>
            <a:ext cx="219456" cy="146304"/>
          </a:xfrm>
          <a:prstGeom prst="rightArrow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4" name="Rounded Rectangle 15383"/>
          <p:cNvSpPr/>
          <p:nvPr/>
        </p:nvSpPr>
        <p:spPr>
          <a:xfrm>
            <a:off x="10561320" y="3977639"/>
            <a:ext cx="1417320" cy="658368"/>
          </a:xfrm>
          <a:prstGeom prst="roundRect">
            <a:avLst>
              <a:gd name="adj" fmla="val 8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ALERT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Arial"/>
              </a:rPr>
              <a:t>+ signed evidence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411480" y="4846320"/>
            <a:ext cx="11384280" cy="29260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100" b="0" i="1">
                <a:solidFill>
                  <a:srgbClr val="54606D"/>
                </a:solidFill>
                <a:latin typeface="Arial"/>
              </a:rPr>
              <a:t>Same pipeline behind every console, so a threshold tuned on a laptop behaves the same way at the post.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411480" y="5138928"/>
            <a:ext cx="11384280" cy="23774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1200" b="1" i="0">
                <a:solidFill>
                  <a:srgbClr val="224974"/>
                </a:solidFill>
                <a:latin typeface="Arial"/>
              </a:rPr>
              <a:t>Every capability the problem statement asks for, delivered in software</a:t>
            </a:r>
          </a:p>
        </p:txBody>
      </p:sp>
      <p:sp>
        <p:nvSpPr>
          <p:cNvPr id="15387" name="Rounded Rectangle 15386"/>
          <p:cNvSpPr/>
          <p:nvPr/>
        </p:nvSpPr>
        <p:spPr>
          <a:xfrm>
            <a:off x="411480" y="5431536"/>
            <a:ext cx="1353312" cy="548640"/>
          </a:xfrm>
          <a:prstGeom prst="roundRect">
            <a:avLst>
              <a:gd name="adj" fmla="val 8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Human detection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</a:rPr>
              <a:t>&amp; tracking</a:t>
            </a:r>
          </a:p>
        </p:txBody>
      </p:sp>
      <p:sp>
        <p:nvSpPr>
          <p:cNvPr id="15388" name="Rounded Rectangle 15387"/>
          <p:cNvSpPr/>
          <p:nvPr/>
        </p:nvSpPr>
        <p:spPr>
          <a:xfrm>
            <a:off x="1837944" y="5431536"/>
            <a:ext cx="1353312" cy="548640"/>
          </a:xfrm>
          <a:prstGeom prst="roundRect">
            <a:avLst>
              <a:gd name="adj" fmla="val 8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Vehicle detection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</a:rPr>
              <a:t>&amp; classification</a:t>
            </a:r>
          </a:p>
        </p:txBody>
      </p:sp>
      <p:sp>
        <p:nvSpPr>
          <p:cNvPr id="15389" name="Rounded Rectangle 15388"/>
          <p:cNvSpPr/>
          <p:nvPr/>
        </p:nvSpPr>
        <p:spPr>
          <a:xfrm>
            <a:off x="3264408" y="5431536"/>
            <a:ext cx="1353312" cy="548640"/>
          </a:xfrm>
          <a:prstGeom prst="roundRect">
            <a:avLst>
              <a:gd name="adj" fmla="val 8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Face detection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</a:rPr>
              <a:t>&amp; recognition</a:t>
            </a:r>
          </a:p>
        </p:txBody>
      </p:sp>
      <p:sp>
        <p:nvSpPr>
          <p:cNvPr id="15390" name="Rounded Rectangle 15389"/>
          <p:cNvSpPr/>
          <p:nvPr/>
        </p:nvSpPr>
        <p:spPr>
          <a:xfrm>
            <a:off x="4690872" y="5431536"/>
            <a:ext cx="1353312" cy="548640"/>
          </a:xfrm>
          <a:prstGeom prst="roundRect">
            <a:avLst>
              <a:gd name="adj" fmla="val 8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ANPR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</a:rPr>
              <a:t>(Indian plates)</a:t>
            </a:r>
          </a:p>
        </p:txBody>
      </p:sp>
      <p:sp>
        <p:nvSpPr>
          <p:cNvPr id="15391" name="Rounded Rectangle 15390"/>
          <p:cNvSpPr/>
          <p:nvPr/>
        </p:nvSpPr>
        <p:spPr>
          <a:xfrm>
            <a:off x="6117336" y="5431536"/>
            <a:ext cx="1353312" cy="548640"/>
          </a:xfrm>
          <a:prstGeom prst="roundRect">
            <a:avLst>
              <a:gd name="adj" fmla="val 8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Virtual fence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</a:rPr>
              <a:t>intrusion</a:t>
            </a:r>
          </a:p>
        </p:txBody>
      </p:sp>
      <p:sp>
        <p:nvSpPr>
          <p:cNvPr id="15392" name="Rounded Rectangle 15391"/>
          <p:cNvSpPr/>
          <p:nvPr/>
        </p:nvSpPr>
        <p:spPr>
          <a:xfrm>
            <a:off x="7543800" y="5431536"/>
            <a:ext cx="1353312" cy="548640"/>
          </a:xfrm>
          <a:prstGeom prst="roundRect">
            <a:avLst>
              <a:gd name="adj" fmla="val 8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Suspicious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</a:rPr>
              <a:t>activity</a:t>
            </a:r>
          </a:p>
        </p:txBody>
      </p:sp>
      <p:sp>
        <p:nvSpPr>
          <p:cNvPr id="15393" name="Rounded Rectangle 15392"/>
          <p:cNvSpPr/>
          <p:nvPr/>
        </p:nvSpPr>
        <p:spPr>
          <a:xfrm>
            <a:off x="8970264" y="5431536"/>
            <a:ext cx="1353312" cy="548640"/>
          </a:xfrm>
          <a:prstGeom prst="roundRect">
            <a:avLst>
              <a:gd name="adj" fmla="val 8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Night-time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</a:rPr>
              <a:t>movement</a:t>
            </a:r>
          </a:p>
        </p:txBody>
      </p:sp>
      <p:sp>
        <p:nvSpPr>
          <p:cNvPr id="15394" name="Rounded Rectangle 15393"/>
          <p:cNvSpPr/>
          <p:nvPr/>
        </p:nvSpPr>
        <p:spPr>
          <a:xfrm>
            <a:off x="10396728" y="5431536"/>
            <a:ext cx="1353312" cy="548640"/>
          </a:xfrm>
          <a:prstGeom prst="roundRect">
            <a:avLst>
              <a:gd name="adj" fmla="val 8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Alerts, logging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</a:rPr>
              <a:t>&amp; C2 handoff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1480" y="1060704"/>
            <a:ext cx="11384280" cy="256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1500" b="1" i="0">
                <a:solidFill>
                  <a:srgbClr val="0071C1"/>
                </a:solidFill>
                <a:latin typeface="Arial"/>
              </a:rPr>
              <a:t>Technologies to be used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224974"/>
                </a:solidFill>
                <a:latin typeface="Arial"/>
              </a:rPr>
              <a:t>IBVAP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411480" y="1389888"/>
            <a:ext cx="3639312" cy="1755648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411480" y="1389888"/>
            <a:ext cx="3639312" cy="310896"/>
          </a:xfrm>
          <a:prstGeom prst="roundRect">
            <a:avLst>
              <a:gd name="adj" fmla="val 8000"/>
            </a:avLst>
          </a:prstGeom>
          <a:solidFill>
            <a:srgbClr val="2249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VISION &amp; ML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21208" y="1755648"/>
            <a:ext cx="3419856" cy="133502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222C"/>
                </a:solidFill>
                <a:latin typeface="Arial"/>
              </a:rPr>
              <a:t>ONNX Runtime · PyTorch (Ultralytics) · TensorRT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00" b="0" i="0">
                <a:solidFill>
                  <a:srgbClr val="1A222C"/>
                </a:solidFill>
                <a:latin typeface="Arial"/>
              </a:rPr>
              <a:t>RT-DETR · YOLO26 · YOLOv8 / v11 · YOLOv5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00" b="0" i="0">
                <a:solidFill>
                  <a:srgbClr val="1A222C"/>
                </a:solidFill>
                <a:latin typeface="Arial"/>
              </a:rPr>
              <a:t>MobileNetV3 (ImageNet-1k) · ArcFace · CRNN + CTC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00" b="0" i="0">
                <a:solidFill>
                  <a:srgbClr val="1A222C"/>
                </a:solidFill>
                <a:latin typeface="Arial"/>
              </a:rPr>
              <a:t>ByteTrack + Kalman · SciPy Hungarian · supervision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00" b="0" i="0">
                <a:solidFill>
                  <a:srgbClr val="1A222C"/>
                </a:solidFill>
                <a:latin typeface="Arial"/>
              </a:rPr>
              <a:t>OpenCV · NumPy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79392" y="1389888"/>
            <a:ext cx="3639312" cy="1755648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4279392" y="1389888"/>
            <a:ext cx="3639312" cy="310896"/>
          </a:xfrm>
          <a:prstGeom prst="roundRect">
            <a:avLst>
              <a:gd name="adj" fmla="val 8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PLATFORM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389120" y="1755648"/>
            <a:ext cx="3419856" cy="133502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222C"/>
                </a:solidFill>
                <a:latin typeface="Arial"/>
              </a:rPr>
              <a:t>Python 3.10–3.12 · FastAPI · Uvicorn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00" b="0" i="0">
                <a:solidFill>
                  <a:srgbClr val="1A222C"/>
                </a:solidFill>
                <a:latin typeface="Arial"/>
              </a:rPr>
              <a:t>Pydantic v2 · SQLAlchemy 2.0 async · Alembic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00" b="0" i="0">
                <a:solidFill>
                  <a:srgbClr val="1A222C"/>
                </a:solidFill>
                <a:latin typeface="Arial"/>
              </a:rPr>
              <a:t>SQLite (WAL) at the edge · PostgreSQL at sector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00" b="0" i="0">
                <a:solidFill>
                  <a:srgbClr val="1A222C"/>
                </a:solidFill>
                <a:latin typeface="Arial"/>
              </a:rPr>
              <a:t>JWT · bcrypt · 4-role RBAC · HMAC webhooks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00" b="0" i="0">
                <a:solidFill>
                  <a:srgbClr val="1A222C"/>
                </a:solidFill>
                <a:latin typeface="Arial"/>
              </a:rPr>
              <a:t>structlog · Prometheus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147304" y="1389888"/>
            <a:ext cx="3639312" cy="1755648"/>
          </a:xfrm>
          <a:prstGeom prst="roundRect">
            <a:avLst>
              <a:gd name="adj" fmla="val 8000"/>
            </a:avLst>
          </a:prstGeom>
          <a:solidFill>
            <a:srgbClr val="EFF8F3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8147304" y="1389888"/>
            <a:ext cx="3639312" cy="310896"/>
          </a:xfrm>
          <a:prstGeom prst="roundRect">
            <a:avLst>
              <a:gd name="adj" fmla="val 8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DELIVERY &amp; OPS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8257031" y="1755648"/>
            <a:ext cx="3419856" cy="133502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222C"/>
                </a:solidFill>
                <a:latin typeface="Arial"/>
              </a:rPr>
              <a:t>Browser console — no build step, no CDN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00" b="0" i="0">
                <a:solidFill>
                  <a:srgbClr val="1A222C"/>
                </a:solidFill>
                <a:latin typeface="Arial"/>
              </a:rPr>
              <a:t>PyQt6 desktop + live analysis consoles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00" b="0" i="0">
                <a:solidFill>
                  <a:srgbClr val="1A222C"/>
                </a:solidFill>
                <a:latin typeface="Arial"/>
              </a:rPr>
              <a:t>Docker · systemd · unprivileged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00" b="0" i="0">
                <a:solidFill>
                  <a:srgbClr val="1A222C"/>
                </a:solidFill>
                <a:latin typeface="Arial"/>
              </a:rPr>
              <a:t>GitHub Actions · pytest · ruff · bandit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00" b="0" i="0">
                <a:solidFill>
                  <a:srgbClr val="1A222C"/>
                </a:solidFill>
                <a:latin typeface="Arial"/>
              </a:rPr>
              <a:t>427 automated tests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11480" y="3310128"/>
            <a:ext cx="11384280" cy="25603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1500" b="1" i="0">
                <a:solidFill>
                  <a:srgbClr val="0071C1"/>
                </a:solidFill>
                <a:latin typeface="Arial"/>
              </a:rPr>
              <a:t>Methodology and process for implementation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411480" y="3639312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ounded Rectangle 17421"/>
          <p:cNvSpPr/>
          <p:nvPr/>
        </p:nvSpPr>
        <p:spPr>
          <a:xfrm>
            <a:off x="411480" y="3639312"/>
            <a:ext cx="1691640" cy="274320"/>
          </a:xfrm>
          <a:prstGeom prst="roundRect">
            <a:avLst>
              <a:gd name="adj" fmla="val 8000"/>
            </a:avLst>
          </a:prstGeom>
          <a:solidFill>
            <a:srgbClr val="2249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  INGEST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484632" y="3968496"/>
            <a:ext cx="1545336" cy="60350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1A222C"/>
                </a:solidFill>
                <a:latin typeface="Arial"/>
              </a:rPr>
              <a:t>RTSP / ONVIF, reconnect</a:t>
            </a:r>
          </a:p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1A222C"/>
                </a:solidFill>
                <a:latin typeface="Arial"/>
              </a:rPr>
              <a:t>bounded queue, drop-oldest</a:t>
            </a:r>
          </a:p>
        </p:txBody>
      </p:sp>
      <p:sp>
        <p:nvSpPr>
          <p:cNvPr id="17424" name="Right Arrow 17423"/>
          <p:cNvSpPr/>
          <p:nvPr/>
        </p:nvSpPr>
        <p:spPr>
          <a:xfrm>
            <a:off x="2121408" y="4050791"/>
            <a:ext cx="182880" cy="146304"/>
          </a:xfrm>
          <a:prstGeom prst="rightArrow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Rounded Rectangle 17424"/>
          <p:cNvSpPr/>
          <p:nvPr/>
        </p:nvSpPr>
        <p:spPr>
          <a:xfrm>
            <a:off x="2322576" y="3639312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Rounded Rectangle 17425"/>
          <p:cNvSpPr/>
          <p:nvPr/>
        </p:nvSpPr>
        <p:spPr>
          <a:xfrm>
            <a:off x="2322576" y="3639312"/>
            <a:ext cx="1691640" cy="274320"/>
          </a:xfrm>
          <a:prstGeom prst="roundRect">
            <a:avLst>
              <a:gd name="adj" fmla="val 8000"/>
            </a:avLst>
          </a:prstGeom>
          <a:solidFill>
            <a:srgbClr val="2249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2  DETECT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2395728" y="3968496"/>
            <a:ext cx="1545336" cy="60350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1A222C"/>
                </a:solidFill>
                <a:latin typeface="Arial"/>
              </a:rPr>
              <a:t>ONNX / Torch / TensorRT</a:t>
            </a:r>
          </a:p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1A222C"/>
                </a:solidFill>
                <a:latin typeface="Arial"/>
              </a:rPr>
              <a:t>motion fallback if no model</a:t>
            </a:r>
          </a:p>
        </p:txBody>
      </p:sp>
      <p:sp>
        <p:nvSpPr>
          <p:cNvPr id="17428" name="Right Arrow 17427"/>
          <p:cNvSpPr/>
          <p:nvPr/>
        </p:nvSpPr>
        <p:spPr>
          <a:xfrm>
            <a:off x="4032504" y="4050791"/>
            <a:ext cx="182880" cy="146304"/>
          </a:xfrm>
          <a:prstGeom prst="rightArrow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Rounded Rectangle 17428"/>
          <p:cNvSpPr/>
          <p:nvPr/>
        </p:nvSpPr>
        <p:spPr>
          <a:xfrm>
            <a:off x="4233672" y="3639312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Rounded Rectangle 17429"/>
          <p:cNvSpPr/>
          <p:nvPr/>
        </p:nvSpPr>
        <p:spPr>
          <a:xfrm>
            <a:off x="4233672" y="3639312"/>
            <a:ext cx="1691640" cy="274320"/>
          </a:xfrm>
          <a:prstGeom prst="roundRect">
            <a:avLst>
              <a:gd name="adj" fmla="val 8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3  CLASSIFY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4306824" y="3968496"/>
            <a:ext cx="1545336" cy="60350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1A222C"/>
                </a:solidFill>
                <a:latin typeface="Arial"/>
              </a:rPr>
              <a:t>MobileNetV3, once per</a:t>
            </a:r>
          </a:p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1A222C"/>
                </a:solidFill>
                <a:latin typeface="Arial"/>
              </a:rPr>
              <a:t>track — not per frame</a:t>
            </a:r>
          </a:p>
        </p:txBody>
      </p:sp>
      <p:sp>
        <p:nvSpPr>
          <p:cNvPr id="17432" name="Right Arrow 17431"/>
          <p:cNvSpPr/>
          <p:nvPr/>
        </p:nvSpPr>
        <p:spPr>
          <a:xfrm>
            <a:off x="5943600" y="4050791"/>
            <a:ext cx="182880" cy="146304"/>
          </a:xfrm>
          <a:prstGeom prst="rightArrow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Rounded Rectangle 17432"/>
          <p:cNvSpPr/>
          <p:nvPr/>
        </p:nvSpPr>
        <p:spPr>
          <a:xfrm>
            <a:off x="6144768" y="3639312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Rounded Rectangle 17433"/>
          <p:cNvSpPr/>
          <p:nvPr/>
        </p:nvSpPr>
        <p:spPr>
          <a:xfrm>
            <a:off x="6144768" y="3639312"/>
            <a:ext cx="1691640" cy="274320"/>
          </a:xfrm>
          <a:prstGeom prst="roundRect">
            <a:avLst>
              <a:gd name="adj" fmla="val 8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4  TRACK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6217920" y="3968496"/>
            <a:ext cx="1545336" cy="60350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1A222C"/>
                </a:solidFill>
                <a:latin typeface="Arial"/>
              </a:rPr>
              <a:t>ByteTrack + Kalman</a:t>
            </a:r>
          </a:p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1A222C"/>
                </a:solidFill>
                <a:latin typeface="Arial"/>
              </a:rPr>
              <a:t>IDs hold through occlusion</a:t>
            </a:r>
          </a:p>
        </p:txBody>
      </p:sp>
      <p:sp>
        <p:nvSpPr>
          <p:cNvPr id="17436" name="Right Arrow 17435"/>
          <p:cNvSpPr/>
          <p:nvPr/>
        </p:nvSpPr>
        <p:spPr>
          <a:xfrm>
            <a:off x="7854696" y="4050791"/>
            <a:ext cx="182880" cy="146304"/>
          </a:xfrm>
          <a:prstGeom prst="rightArrow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Rounded Rectangle 17436"/>
          <p:cNvSpPr/>
          <p:nvPr/>
        </p:nvSpPr>
        <p:spPr>
          <a:xfrm>
            <a:off x="8055864" y="3639312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Rounded Rectangle 17437"/>
          <p:cNvSpPr/>
          <p:nvPr/>
        </p:nvSpPr>
        <p:spPr>
          <a:xfrm>
            <a:off x="8055864" y="3639312"/>
            <a:ext cx="1691640" cy="274320"/>
          </a:xfrm>
          <a:prstGeom prst="roundRect">
            <a:avLst>
              <a:gd name="adj" fmla="val 8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5  RECOGNISE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8129016" y="3968496"/>
            <a:ext cx="1545336" cy="60350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1A222C"/>
                </a:solidFill>
                <a:latin typeface="Arial"/>
              </a:rPr>
              <a:t>ANPR: plate Kalman + vote</a:t>
            </a:r>
          </a:p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1A222C"/>
                </a:solidFill>
                <a:latin typeface="Arial"/>
              </a:rPr>
              <a:t>Face: ArcFace + margin</a:t>
            </a:r>
          </a:p>
        </p:txBody>
      </p:sp>
      <p:sp>
        <p:nvSpPr>
          <p:cNvPr id="17440" name="Right Arrow 17439"/>
          <p:cNvSpPr/>
          <p:nvPr/>
        </p:nvSpPr>
        <p:spPr>
          <a:xfrm>
            <a:off x="9765792" y="4050791"/>
            <a:ext cx="182880" cy="146304"/>
          </a:xfrm>
          <a:prstGeom prst="rightArrow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Rounded Rectangle 17440"/>
          <p:cNvSpPr/>
          <p:nvPr/>
        </p:nvSpPr>
        <p:spPr>
          <a:xfrm>
            <a:off x="9966960" y="3639312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2" name="Rounded Rectangle 17441"/>
          <p:cNvSpPr/>
          <p:nvPr/>
        </p:nvSpPr>
        <p:spPr>
          <a:xfrm>
            <a:off x="9966960" y="3639312"/>
            <a:ext cx="1691640" cy="274320"/>
          </a:xfrm>
          <a:prstGeom prst="roundRect">
            <a:avLst>
              <a:gd name="adj" fmla="val 8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6  ACT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10040112" y="3968496"/>
            <a:ext cx="1545336" cy="60350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1A222C"/>
                </a:solidFill>
                <a:latin typeface="Arial"/>
              </a:rPr>
              <a:t>rules → gate → evidence</a:t>
            </a:r>
          </a:p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1A222C"/>
                </a:solidFill>
                <a:latin typeface="Arial"/>
              </a:rPr>
              <a:t>→ store-and-forward to C2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411480" y="4754880"/>
            <a:ext cx="11384280" cy="60350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24974"/>
                </a:solidFill>
                <a:latin typeface="Arial"/>
              </a:rPr>
              <a:t>Why this approach</a:t>
            </a:r>
          </a:p>
          <a:p>
            <a:pPr algn="l"/>
            <a:r>
              <a:rPr sz="1000" b="0" i="0">
                <a:solidFill>
                  <a:srgbClr val="1A222C"/>
                </a:solidFill>
                <a:latin typeface="Arial"/>
              </a:rPr>
              <a:t>Runs on cameras already installed  ·  ONNX rather than a training stack: ~200 MB, not 2 GB  ·  detection is expensive and tracking is cheap, so the detector samples frames and the tracker fills the gaps  ·  classification runs once per track, which is what makes livestock suppression affordable at the edge  ·  every fall to a weaker runtime is reported, never silent.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411480" y="5394960"/>
            <a:ext cx="11384280" cy="23774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1200" b="1" i="0">
                <a:solidFill>
                  <a:srgbClr val="224974"/>
                </a:solidFill>
                <a:latin typeface="Arial"/>
              </a:rPr>
              <a:t>From a laptop to a border post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411480" y="566928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TUNE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</a:rPr>
              <a:t>analyst console, Torch</a:t>
            </a:r>
          </a:p>
        </p:txBody>
      </p:sp>
      <p:sp>
        <p:nvSpPr>
          <p:cNvPr id="17447" name="Right Arrow 17446"/>
          <p:cNvSpPr/>
          <p:nvPr/>
        </p:nvSpPr>
        <p:spPr>
          <a:xfrm>
            <a:off x="2441448" y="5833872"/>
            <a:ext cx="146304" cy="128016"/>
          </a:xfrm>
          <a:prstGeom prst="rightArrow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8" name="Rounded Rectangle 17447"/>
          <p:cNvSpPr/>
          <p:nvPr/>
        </p:nvSpPr>
        <p:spPr>
          <a:xfrm>
            <a:off x="2624328" y="566928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2249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EXPORT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</a:rPr>
              <a:t>ibvap models fetch → ONNX</a:t>
            </a:r>
          </a:p>
        </p:txBody>
      </p:sp>
      <p:sp>
        <p:nvSpPr>
          <p:cNvPr id="17449" name="Right Arrow 17448"/>
          <p:cNvSpPr/>
          <p:nvPr/>
        </p:nvSpPr>
        <p:spPr>
          <a:xfrm>
            <a:off x="4654296" y="5833872"/>
            <a:ext cx="146304" cy="128016"/>
          </a:xfrm>
          <a:prstGeom prst="rightArrow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0" name="Rounded Rectangle 17449"/>
          <p:cNvSpPr/>
          <p:nvPr/>
        </p:nvSpPr>
        <p:spPr>
          <a:xfrm>
            <a:off x="4837176" y="566928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2249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SHIP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</a:rPr>
              <a:t>hashed, registered artefact</a:t>
            </a:r>
          </a:p>
        </p:txBody>
      </p:sp>
      <p:sp>
        <p:nvSpPr>
          <p:cNvPr id="17451" name="Right Arrow 17450"/>
          <p:cNvSpPr/>
          <p:nvPr/>
        </p:nvSpPr>
        <p:spPr>
          <a:xfrm>
            <a:off x="6867144" y="5833872"/>
            <a:ext cx="146304" cy="128016"/>
          </a:xfrm>
          <a:prstGeom prst="rightArrow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2" name="Rounded Rectangle 17451"/>
          <p:cNvSpPr/>
          <p:nvPr/>
        </p:nvSpPr>
        <p:spPr>
          <a:xfrm>
            <a:off x="7050024" y="566928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COMMISSION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</a:rPr>
              <a:t>TensorRT plan built on the node</a:t>
            </a:r>
          </a:p>
        </p:txBody>
      </p:sp>
      <p:sp>
        <p:nvSpPr>
          <p:cNvPr id="17453" name="Right Arrow 17452"/>
          <p:cNvSpPr/>
          <p:nvPr/>
        </p:nvSpPr>
        <p:spPr>
          <a:xfrm>
            <a:off x="9079992" y="5833872"/>
            <a:ext cx="146304" cy="128016"/>
          </a:xfrm>
          <a:prstGeom prst="rightArrow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4" name="Rounded Rectangle 17453"/>
          <p:cNvSpPr/>
          <p:nvPr/>
        </p:nvSpPr>
        <p:spPr>
          <a:xfrm>
            <a:off x="9262872" y="566928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RUN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</a:rPr>
              <a:t>ONNX Runtime alone, offline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1480" y="1060704"/>
            <a:ext cx="11384280" cy="256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500" b="1" i="0">
                <a:solidFill>
                  <a:srgbClr val="0071C1"/>
                </a:solidFill>
                <a:latin typeface="Arial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224974"/>
                </a:solidFill>
                <a:latin typeface="Arial"/>
              </a:rPr>
              <a:t>IBVAP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411480" y="1389888"/>
            <a:ext cx="3639312" cy="1572768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411480" y="1389888"/>
            <a:ext cx="3639312" cy="310896"/>
          </a:xfrm>
          <a:prstGeom prst="roundRect">
            <a:avLst>
              <a:gd name="adj" fmla="val 8000"/>
            </a:avLst>
          </a:prstGeom>
          <a:solidFill>
            <a:srgbClr val="2249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TECHNICAL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21208" y="1755648"/>
            <a:ext cx="3419856" cy="1152143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222C"/>
                </a:solidFill>
                <a:latin typeface="Arial"/>
              </a:rPr>
              <a:t>Proven open-source stack, production-grade throughout.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00" b="0" i="0">
                <a:solidFill>
                  <a:srgbClr val="1A222C"/>
                </a:solidFill>
                <a:latin typeface="Arial"/>
              </a:rPr>
              <a:t>CPU-only path: a fanless mini-PC carries several cameras.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00" b="0" i="0">
                <a:solidFill>
                  <a:srgbClr val="1A222C"/>
                </a:solidFill>
                <a:latin typeface="Arial"/>
              </a:rPr>
              <a:t>A benchmark command sizes a post before hardware is bought.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00" b="0" i="0">
                <a:solidFill>
                  <a:srgbClr val="1A222C"/>
                </a:solidFill>
                <a:latin typeface="Arial"/>
              </a:rPr>
              <a:t>427 tests on Python 3.10 / 3.11 / 3.12.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79392" y="1389888"/>
            <a:ext cx="3639312" cy="1572768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4279392" y="1389888"/>
            <a:ext cx="3639312" cy="310896"/>
          </a:xfrm>
          <a:prstGeom prst="roundRect">
            <a:avLst>
              <a:gd name="adj" fmla="val 8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OPERATIONAL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389120" y="1755648"/>
            <a:ext cx="3419856" cy="1152143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222C"/>
                </a:solidFill>
                <a:latin typeface="Arial"/>
              </a:rPr>
              <a:t>No change to the camera plant — existing feeds and cabling.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00" b="0" i="0">
                <a:solidFill>
                  <a:srgbClr val="1A222C"/>
                </a:solidFill>
                <a:latin typeface="Arial"/>
              </a:rPr>
              <a:t>Operators place fences on a live frame, not in a file.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00" b="0" i="0">
                <a:solidFill>
                  <a:srgbClr val="1A222C"/>
                </a:solidFill>
                <a:latin typeface="Arial"/>
              </a:rPr>
              <a:t>One service under systemd, or one container, unprivileged.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00" b="0" i="0">
                <a:solidFill>
                  <a:srgbClr val="1A222C"/>
                </a:solidFill>
                <a:latin typeface="Arial"/>
              </a:rPr>
              <a:t>Works air-gapped; four roles with a full audit trail.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147304" y="1389888"/>
            <a:ext cx="3639312" cy="1572768"/>
          </a:xfrm>
          <a:prstGeom prst="roundRect">
            <a:avLst>
              <a:gd name="adj" fmla="val 8000"/>
            </a:avLst>
          </a:prstGeom>
          <a:solidFill>
            <a:srgbClr val="EFF8F3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8147304" y="1389888"/>
            <a:ext cx="3639312" cy="310896"/>
          </a:xfrm>
          <a:prstGeom prst="roundRect">
            <a:avLst>
              <a:gd name="adj" fmla="val 8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ECONOMIC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8257031" y="1755648"/>
            <a:ext cx="3419856" cy="1152143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222C"/>
                </a:solidFill>
                <a:latin typeface="Arial"/>
              </a:rPr>
              <a:t>Zero new sensors — the capital cost is already sunk.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00" b="0" i="0">
                <a:solidFill>
                  <a:srgbClr val="1A222C"/>
                </a:solidFill>
                <a:latin typeface="Arial"/>
              </a:rPr>
              <a:t>No face or plate appliance licence per post.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00" b="0" i="0">
                <a:solidFill>
                  <a:srgbClr val="1A222C"/>
                </a:solidFill>
                <a:latin typeface="Arial"/>
              </a:rPr>
              <a:t>Open-source stack; no per-camera analytics fee.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00" b="0" i="0">
                <a:solidFill>
                  <a:srgbClr val="1A222C"/>
                </a:solidFill>
                <a:latin typeface="Arial"/>
              </a:rPr>
              <a:t>Savings compound: fewer false-alarm sorties.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11480" y="3108960"/>
            <a:ext cx="5532120" cy="25603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1500" b="1" i="0">
                <a:solidFill>
                  <a:srgbClr val="0071C1"/>
                </a:solidFill>
                <a:latin typeface="Arial"/>
              </a:rPr>
              <a:t>Potential challenges and risks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263640" y="3108960"/>
            <a:ext cx="5532120" cy="25603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1500" b="1" i="0">
                <a:solidFill>
                  <a:srgbClr val="0071C1"/>
                </a:solidFill>
                <a:latin typeface="Arial"/>
              </a:rPr>
              <a:t>Strategies for overcoming these challenges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411480" y="3438144"/>
            <a:ext cx="11384280" cy="2706624"/>
          </a:xfrm>
          <a:prstGeom prst="roundRect">
            <a:avLst>
              <a:gd name="adj" fmla="val 8000"/>
            </a:avLst>
          </a:prstGeom>
          <a:solidFill>
            <a:srgbClr val="FDF1EF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566928" y="3621024"/>
            <a:ext cx="5257800" cy="40233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1050" b="1" i="0">
                <a:solidFill>
                  <a:srgbClr val="C0392B"/>
                </a:solidFill>
                <a:latin typeface="Arial"/>
              </a:rPr>
              <a:t>▸  False alarms erode trust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6263640" y="3621024"/>
            <a:ext cx="5394960" cy="42062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950" b="0" i="0">
                <a:solidFill>
                  <a:srgbClr val="1A222C"/>
                </a:solidFill>
                <a:latin typeface="Arial"/>
              </a:rPr>
              <a:t>Class-aware suppression, confirm frames and a dedup gate. Measured on the livestock drill: 27 tracks reclassified, zero false alarms — a person in the same zone still alarms.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566928" y="4133087"/>
            <a:ext cx="5257800" cy="40233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1050" b="1" i="0">
                <a:solidFill>
                  <a:srgbClr val="C0392B"/>
                </a:solidFill>
                <a:latin typeface="Arial"/>
              </a:rPr>
              <a:t>▸  No annotated border imagery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6263640" y="4133087"/>
            <a:ext cx="5394960" cy="42062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950" b="0" i="0">
                <a:solidFill>
                  <a:srgbClr val="1A222C"/>
                </a:solidFill>
                <a:latin typeface="Arial"/>
              </a:rPr>
              <a:t>A deterministic scenario simulator drives drills and CI; the model registry accepts a fine-tuned export the moment real data exists.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566928" y="4645152"/>
            <a:ext cx="5257800" cy="40233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1050" b="1" i="0">
                <a:solidFill>
                  <a:srgbClr val="C0392B"/>
                </a:solidFill>
                <a:latin typeface="Arial"/>
              </a:rPr>
              <a:t>▸  Weak hardware at remote posts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263640" y="4645152"/>
            <a:ext cx="5394960" cy="42062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950" b="0" i="0">
                <a:solidFill>
                  <a:srgbClr val="1A222C"/>
                </a:solidFill>
                <a:latin typeface="Arial"/>
              </a:rPr>
              <a:t>A CPU fallback path, and a benchmark command that sizes the post first.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566928" y="5157216"/>
            <a:ext cx="5257800" cy="40233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1050" b="1" i="0">
                <a:solidFill>
                  <a:srgbClr val="C0392B"/>
                </a:solidFill>
                <a:latin typeface="Arial"/>
              </a:rPr>
              <a:t>▸  Intermittent VSAT / radio uplink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263640" y="5157216"/>
            <a:ext cx="5394960" cy="42062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950" b="0" i="0">
                <a:solidFill>
                  <a:srgbClr val="1A222C"/>
                </a:solidFill>
                <a:latin typeface="Arial"/>
              </a:rPr>
              <a:t>A persisted outbox with capped backoff, replaying alerts in order.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566928" y="5669280"/>
            <a:ext cx="5257800" cy="40233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1050" b="1" i="0">
                <a:solidFill>
                  <a:srgbClr val="C0392B"/>
                </a:solidFill>
                <a:latin typeface="Arial"/>
              </a:rPr>
              <a:t>▸  Evidence challenged months later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6263640" y="5669280"/>
            <a:ext cx="5394960" cy="42062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950" b="0" i="0">
                <a:solidFill>
                  <a:srgbClr val="1A222C"/>
                </a:solidFill>
                <a:latin typeface="Arial"/>
              </a:rPr>
              <a:t>SHA-256 per artefact and a per-day hash chain; deletion is detectable too.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1480" y="1060704"/>
            <a:ext cx="11384280" cy="256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500" b="1" i="0">
                <a:solidFill>
                  <a:srgbClr val="0071C1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224974"/>
                </a:solidFill>
                <a:latin typeface="Arial"/>
              </a:rPr>
              <a:t>IBVAP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411480" y="1371600"/>
            <a:ext cx="11384280" cy="65836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222C"/>
                </a:solidFill>
                <a:latin typeface="Arial"/>
              </a:rPr>
              <a:t>Sashastra Seema Bal sentries, post commanders and sector headquarters — the people watching the wall tonight.</a:t>
            </a:r>
          </a:p>
          <a:p>
            <a:pPr algn="l"/>
            <a:r>
              <a:rPr sz="1150" b="0" i="0">
                <a:solidFill>
                  <a:srgbClr val="1A222C"/>
                </a:solidFill>
                <a:latin typeface="Arial"/>
              </a:rPr>
              <a:t>Every camera is watched to one standard through the whole shift; alerts arrive naming the class, the rule and the zone; plate and face checks happen at the post in seconds; sentries move from staring at a video wall to responding to something specific.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11480" y="2157984"/>
            <a:ext cx="11384280" cy="25603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1500" b="1" i="0">
                <a:solidFill>
                  <a:srgbClr val="0071C1"/>
                </a:solidFill>
                <a:latin typeface="Arial"/>
              </a:rPr>
              <a:t>Benefits of the solution (social, economic, environmental)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11480" y="2487168"/>
            <a:ext cx="3639312" cy="173736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411480" y="2487168"/>
            <a:ext cx="3639312" cy="310896"/>
          </a:xfrm>
          <a:prstGeom prst="roundRect">
            <a:avLst>
              <a:gd name="adj" fmla="val 8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SOCIAL &amp; GOVERNANCE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521208" y="2852928"/>
            <a:ext cx="3419856" cy="131673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222C"/>
                </a:solidFill>
                <a:latin typeface="Arial"/>
              </a:rPr>
              <a:t>Every alert carries its evidence and audit trail, so a decision can be reviewed.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00" b="0" i="0">
                <a:solidFill>
                  <a:srgbClr val="1A222C"/>
                </a:solidFill>
                <a:latin typeface="Arial"/>
              </a:rPr>
              <a:t>Face embeddings kept only for watchlist enrolment — never for passers-by.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00" b="0" i="0">
                <a:solidFill>
                  <a:srgbClr val="1A222C"/>
                </a:solidFill>
                <a:latin typeface="Arial"/>
              </a:rPr>
              <a:t>Fewer false-alarm sorties means less risk to the responding party.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279392" y="2487168"/>
            <a:ext cx="3639312" cy="173736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4279392" y="2487168"/>
            <a:ext cx="3639312" cy="310896"/>
          </a:xfrm>
          <a:prstGeom prst="roundRect">
            <a:avLst>
              <a:gd name="adj" fmla="val 8000"/>
            </a:avLst>
          </a:prstGeom>
          <a:solidFill>
            <a:srgbClr val="2249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ECONOMIC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389120" y="2852928"/>
            <a:ext cx="3419856" cy="131673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222C"/>
                </a:solidFill>
                <a:latin typeface="Arial"/>
              </a:rPr>
              <a:t>Capability on CCTV already paid for, cabled and powered.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00" b="0" i="0">
                <a:solidFill>
                  <a:srgbClr val="1A222C"/>
                </a:solidFill>
                <a:latin typeface="Arial"/>
              </a:rPr>
              <a:t>No FRS or ANPR appliance to buy and licence per post.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00" b="0" i="0">
                <a:solidFill>
                  <a:srgbClr val="1A222C"/>
                </a:solidFill>
                <a:latin typeface="Arial"/>
              </a:rPr>
              <a:t>Skilled work in deployment and tuning rather than in watching screens.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8147304" y="2487168"/>
            <a:ext cx="3639312" cy="1737360"/>
          </a:xfrm>
          <a:prstGeom prst="roundRect">
            <a:avLst>
              <a:gd name="adj" fmla="val 8000"/>
            </a:avLst>
          </a:prstGeom>
          <a:solidFill>
            <a:srgbClr val="EFF8F3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8147304" y="2487168"/>
            <a:ext cx="3639312" cy="310896"/>
          </a:xfrm>
          <a:prstGeom prst="roundRect">
            <a:avLst>
              <a:gd name="adj" fmla="val 8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ENVIRONMENTAL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257031" y="2852928"/>
            <a:ext cx="3419856" cy="131673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222C"/>
                </a:solidFill>
                <a:latin typeface="Arial"/>
              </a:rPr>
              <a:t>Reuse over replacement: no new hardware to make, ship or dispose of.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00" b="0" i="0">
                <a:solidFill>
                  <a:srgbClr val="1A222C"/>
                </a:solidFill>
                <a:latin typeface="Arial"/>
              </a:rPr>
              <a:t>One low-power edge node per post, sized to the load.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00" b="0" i="0">
                <a:solidFill>
                  <a:srgbClr val="1A222C"/>
                </a:solidFill>
                <a:latin typeface="Arial"/>
              </a:rPr>
              <a:t>Fewer vehicle sorties chasing alarms that were cattle.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411480" y="4434840"/>
            <a:ext cx="11384280" cy="1234440"/>
          </a:xfrm>
          <a:prstGeom prst="roundRect">
            <a:avLst>
              <a:gd name="adj" fmla="val 8000"/>
            </a:avLst>
          </a:prstGeom>
          <a:solidFill>
            <a:srgbClr val="2249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411480" y="4590288"/>
            <a:ext cx="2846070" cy="42062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2200" b="1" i="0">
                <a:solidFill>
                  <a:srgbClr val="E08A1E"/>
                </a:solidFill>
                <a:latin typeface="Arial"/>
              </a:rPr>
              <a:t>0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84632" y="5047488"/>
            <a:ext cx="2699765" cy="4572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800" b="1" i="0">
                <a:solidFill>
                  <a:srgbClr val="9FB6CC"/>
                </a:solidFill>
                <a:latin typeface="Arial"/>
              </a:rPr>
              <a:t>NEW CAMERAS REQUIRED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3257550" y="4590288"/>
            <a:ext cx="2846070" cy="42062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2200" b="1" i="0">
                <a:solidFill>
                  <a:srgbClr val="1E8E5A"/>
                </a:solidFill>
                <a:latin typeface="Arial"/>
              </a:rPr>
              <a:t>27 → 0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3330702" y="5047488"/>
            <a:ext cx="2699765" cy="4572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800" b="1" i="0">
                <a:solidFill>
                  <a:srgbClr val="9FB6CC"/>
                </a:solidFill>
                <a:latin typeface="Arial"/>
              </a:rPr>
              <a:t>LIVESTOCK TRACKS RECLASSIFIED → FALSE ALARMS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103620" y="4590288"/>
            <a:ext cx="2846070" cy="42062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~200 MB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176772" y="5047488"/>
            <a:ext cx="2699765" cy="4572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800" b="1" i="0">
                <a:solidFill>
                  <a:srgbClr val="9FB6CC"/>
                </a:solidFill>
                <a:latin typeface="Arial"/>
              </a:rPr>
              <a:t>INFERENCE RUNTIME FOOTPRINT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8949689" y="4590288"/>
            <a:ext cx="2846070" cy="42062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427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9022841" y="5047488"/>
            <a:ext cx="2699765" cy="4572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800" b="1" i="0">
                <a:solidFill>
                  <a:srgbClr val="9FB6CC"/>
                </a:solidFill>
                <a:latin typeface="Arial"/>
              </a:rPr>
              <a:t>AUTOMATED TESTS PASSING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411480" y="5779008"/>
            <a:ext cx="1138428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950" b="0" i="1">
                <a:solidFill>
                  <a:srgbClr val="54606D"/>
                </a:solidFill>
                <a:latin typeface="Arial"/>
              </a:rPr>
              <a:t>Measured in this repository, not projected — the livestock pair comes from the cattle drill scenario.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1480" y="1060704"/>
            <a:ext cx="11384280" cy="256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500" b="1" i="0">
                <a:solidFill>
                  <a:srgbClr val="0071C1"/>
                </a:solidFill>
                <a:latin typeface="Arial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224974"/>
                </a:solidFill>
                <a:latin typeface="Arial"/>
              </a:rPr>
              <a:t>IBVAP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411480" y="1371600"/>
            <a:ext cx="11384280" cy="306324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548640" y="1499616"/>
            <a:ext cx="274320" cy="237744"/>
          </a:xfrm>
          <a:prstGeom prst="roundRect">
            <a:avLst>
              <a:gd name="adj" fmla="val 8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224974"/>
                </a:solidFill>
                <a:latin typeface="Arial"/>
              </a:rPr>
              <a:t>1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914400" y="1481328"/>
            <a:ext cx="7589520" cy="23774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1050" b="1" i="0">
                <a:solidFill>
                  <a:srgbClr val="224974"/>
                </a:solidFill>
                <a:latin typeface="Arial"/>
              </a:rPr>
              <a:t>Sultani, Chen &amp; Shah (2018)  —  Real-world Anomaly Detection in Surveillance Videos — CVPR 2018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914400" y="1719072"/>
            <a:ext cx="7589520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900" b="0" i="0">
                <a:solidFill>
                  <a:srgbClr val="1A222C"/>
                </a:solidFill>
                <a:latin typeface="Arial"/>
              </a:rPr>
              <a:t>Weakly supervised anomaly detection over long, untrimmed surveillance video: the setting a border camera actually produces.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8641080" y="1517904"/>
            <a:ext cx="3063240" cy="23774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r"/>
            <a:r>
              <a:rPr sz="900" b="0" i="0">
                <a:solidFill>
                  <a:srgbClr val="0071C1"/>
                </a:solidFill>
                <a:latin typeface="Arial"/>
              </a:rPr>
              <a:t>https://arxiv.org/abs/1801.04264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548640" y="2084832"/>
            <a:ext cx="274320" cy="237744"/>
          </a:xfrm>
          <a:prstGeom prst="roundRect">
            <a:avLst>
              <a:gd name="adj" fmla="val 8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224974"/>
                </a:solidFill>
                <a:latin typeface="Arial"/>
              </a:rPr>
              <a:t>2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914400" y="2066544"/>
            <a:ext cx="7589520" cy="23774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1050" b="1" i="0">
                <a:solidFill>
                  <a:srgbClr val="224974"/>
                </a:solidFill>
                <a:latin typeface="Arial"/>
              </a:rPr>
              <a:t>Zhao et al. (2024)  —  DETRs Beat YOLOs on Real-time Object Detection (RT-DETR) — CVPR 2024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914400" y="2304288"/>
            <a:ext cx="7589520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900" b="0" i="0">
                <a:solidFill>
                  <a:srgbClr val="1A222C"/>
                </a:solidFill>
                <a:latin typeface="Arial"/>
              </a:rPr>
              <a:t>An end-to-end detector with no NMS pass — a real saving on an edge node carrying many cameras on few cores.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8641080" y="2103120"/>
            <a:ext cx="3063240" cy="23774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r"/>
            <a:r>
              <a:rPr sz="900" b="0" i="0">
                <a:solidFill>
                  <a:srgbClr val="0071C1"/>
                </a:solidFill>
                <a:latin typeface="Arial"/>
              </a:rPr>
              <a:t>https://arxiv.org/abs/2304.08069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48640" y="2670048"/>
            <a:ext cx="274320" cy="237744"/>
          </a:xfrm>
          <a:prstGeom prst="roundRect">
            <a:avLst>
              <a:gd name="adj" fmla="val 8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224974"/>
                </a:solidFill>
                <a:latin typeface="Arial"/>
              </a:rPr>
              <a:t>3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914400" y="2651760"/>
            <a:ext cx="7589520" cy="23774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1050" b="1" i="0">
                <a:solidFill>
                  <a:srgbClr val="224974"/>
                </a:solidFill>
                <a:latin typeface="Arial"/>
              </a:rPr>
              <a:t>Zhang et al. (2022)  —  ByteTrack: Multi-Object Tracking by Associating Every Detection Box — ECCV 2022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914400" y="2889504"/>
            <a:ext cx="7589520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900" b="0" i="0">
                <a:solidFill>
                  <a:srgbClr val="1A222C"/>
                </a:solidFill>
                <a:latin typeface="Arial"/>
              </a:rPr>
              <a:t>Associating low-scoring boxes keeps an identity alive through the occlusion a fence or a post causes.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8641080" y="2688336"/>
            <a:ext cx="3063240" cy="23774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r"/>
            <a:r>
              <a:rPr sz="900" b="0" i="0">
                <a:solidFill>
                  <a:srgbClr val="0071C1"/>
                </a:solidFill>
                <a:latin typeface="Arial"/>
              </a:rPr>
              <a:t>https://arxiv.org/abs/2110.06864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548640" y="3255264"/>
            <a:ext cx="274320" cy="237744"/>
          </a:xfrm>
          <a:prstGeom prst="roundRect">
            <a:avLst>
              <a:gd name="adj" fmla="val 8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224974"/>
                </a:solidFill>
                <a:latin typeface="Arial"/>
              </a:rPr>
              <a:t>4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914400" y="3236976"/>
            <a:ext cx="7589520" cy="23774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1050" b="1" i="0">
                <a:solidFill>
                  <a:srgbClr val="224974"/>
                </a:solidFill>
                <a:latin typeface="Arial"/>
              </a:rPr>
              <a:t>Howard et al. (2019)  —  Searching for MobileNetV3 — ICCV 2019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914400" y="3474720"/>
            <a:ext cx="7589520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900" b="0" i="0">
                <a:solidFill>
                  <a:srgbClr val="1A222C"/>
                </a:solidFill>
                <a:latin typeface="Arial"/>
              </a:rPr>
              <a:t>The efficient backbone behind the once-per-track refinement that tells a cow from a person cheaply enough to run at the edge.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8641080" y="3273552"/>
            <a:ext cx="3063240" cy="23774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r"/>
            <a:r>
              <a:rPr sz="900" b="0" i="0">
                <a:solidFill>
                  <a:srgbClr val="0071C1"/>
                </a:solidFill>
                <a:latin typeface="Arial"/>
              </a:rPr>
              <a:t>https://arxiv.org/abs/1905.02244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548640" y="3840480"/>
            <a:ext cx="274320" cy="237744"/>
          </a:xfrm>
          <a:prstGeom prst="roundRect">
            <a:avLst>
              <a:gd name="adj" fmla="val 8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224974"/>
                </a:solidFill>
                <a:latin typeface="Arial"/>
              </a:rPr>
              <a:t>5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914400" y="3822192"/>
            <a:ext cx="7589520" cy="23774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1050" b="1" i="0">
                <a:solidFill>
                  <a:srgbClr val="224974"/>
                </a:solidFill>
                <a:latin typeface="Arial"/>
              </a:rPr>
              <a:t>Deng et al. (2019)  —  ArcFace: Additive Angular Margin Loss for Deep Face Recognition — CVPR 2019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914400" y="4059936"/>
            <a:ext cx="7589520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900" b="0" i="0">
                <a:solidFill>
                  <a:srgbClr val="1A222C"/>
                </a:solidFill>
                <a:latin typeface="Arial"/>
              </a:rPr>
              <a:t>The objective producing the 512-d embeddings compared by cosine similarity in the face-matching stage.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8641080" y="3858768"/>
            <a:ext cx="3063240" cy="23774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r"/>
            <a:r>
              <a:rPr sz="900" b="0" i="0">
                <a:solidFill>
                  <a:srgbClr val="0071C1"/>
                </a:solidFill>
                <a:latin typeface="Arial"/>
              </a:rPr>
              <a:t>https://arxiv.org/abs/1801.07698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411480" y="4572000"/>
            <a:ext cx="5532120" cy="25603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Arial"/>
              </a:rPr>
              <a:t>What exists today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411480" y="4864608"/>
            <a:ext cx="5532120" cy="1325880"/>
          </a:xfrm>
          <a:prstGeom prst="roundRect">
            <a:avLst>
              <a:gd name="adj" fmla="val 8000"/>
            </a:avLst>
          </a:prstGeom>
          <a:solidFill>
            <a:srgbClr val="FDF1EF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566928" y="4974336"/>
            <a:ext cx="5230368" cy="11430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222C"/>
                </a:solidFill>
                <a:latin typeface="Arial"/>
              </a:rPr>
              <a:t>▸  Manual CCTV monitoring — attention decays within the hour.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222C"/>
                </a:solidFill>
                <a:latin typeface="Arial"/>
              </a:rPr>
              <a:t>▸  Motion / tripwire alarms — a cow, a branch and a man look alike.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222C"/>
                </a:solidFill>
                <a:latin typeface="Arial"/>
              </a:rPr>
              <a:t>▸  Dedicated FRS and ANPR appliances — priced and cabled per post.</a:t>
            </a:r>
          </a:p>
          <a:p>
            <a:pPr algn="l"/>
            <a:r>
              <a:rPr sz="950" b="0" i="0">
                <a:solidFill>
                  <a:srgbClr val="1A222C"/>
                </a:solidFill>
                <a:latin typeface="Arial"/>
              </a:rPr>
              <a:t>▸  Cloud analytics — needs an uplink a border post does not have.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6263640" y="4572000"/>
            <a:ext cx="5532120" cy="25603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1300" b="1" i="0">
                <a:solidFill>
                  <a:srgbClr val="1E8E5A"/>
                </a:solidFill>
                <a:latin typeface="Arial"/>
              </a:rPr>
              <a:t>Where IBVAP stands out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6263640" y="4864608"/>
            <a:ext cx="5532120" cy="1325880"/>
          </a:xfrm>
          <a:prstGeom prst="roundRect">
            <a:avLst>
              <a:gd name="adj" fmla="val 8000"/>
            </a:avLst>
          </a:prstGeom>
          <a:solidFill>
            <a:srgbClr val="EFF8F3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6419088" y="4974336"/>
            <a:ext cx="5230368" cy="11430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222C"/>
                </a:solidFill>
                <a:latin typeface="Arial"/>
              </a:rPr>
              <a:t>▸  Class-aware alerts — livestock suppressed by name, not threshold.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222C"/>
                </a:solidFill>
                <a:latin typeface="Arial"/>
              </a:rPr>
              <a:t>▸  Face and plate reading in software, on the same node.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222C"/>
                </a:solidFill>
                <a:latin typeface="Arial"/>
              </a:rPr>
              <a:t>▸  Runs at the edge, offline; an outbox handles the uplink.</a:t>
            </a:r>
          </a:p>
          <a:p>
            <a:pPr algn="l"/>
            <a:r>
              <a:rPr sz="950" b="0" i="0">
                <a:solidFill>
                  <a:srgbClr val="1A222C"/>
                </a:solidFill>
                <a:latin typeface="Arial"/>
              </a:rPr>
              <a:t>▸  Defensible evidence, and a node that reports what it cannot do.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